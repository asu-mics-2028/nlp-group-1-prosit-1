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sldIdLst>
    <p:sldId id="266" r:id="rId19"/>
    <p:sldId id="267" r:id="rId20"/>
    <p:sldId id="268" r:id="rId21"/>
    <p:sldId id="269" r:id="rId22"/>
    <p:sldId id="270" r:id="rId23"/>
    <p:sldId id="271" r:id="rId24"/>
    <p:sldId id="272" r:id="rId25"/>
    <p:sldId id="273" r:id="rId26"/>
    <p:sldId id="274" r:id="rId27"/>
    <p:sldId id="275" r:id="rId28"/>
    <p:sldId id="27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B3D3F"/>
    <a:srgbClr val="FEBA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View">
  <p:normalViewPr>
    <p:restoredLeft sz="10408"/>
    <p:restoredTop sz="94668"/>
  </p:normalViewPr>
  <p:slideViewPr>
    <p:cSldViewPr snapToGrid="0" showGuides="1">
      <p:cViewPr varScale="1">
        <p:scale>
          <a:sx n="122" d="100"/>
          <a:sy n="122" d="100"/>
        </p:scale>
        <p:origin x="976" y="2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c:v>
                </c:pt>
              </c:strCache>
            </c:strRef>
          </c:tx>
          <c:spPr>
            <a:solidFill>
              <a:srgbClr val="A6A6A6"/>
            </a:solidFill>
          </c:spPr>
          <c:invertIfNegative val="0"/>
          <c:dPt>
            <c:idx val="0"/>
            <c:invertIfNegative val="0"/>
            <c:spPr>
              <a:solidFill>
                <a:srgbClr val="A6A6A6"/>
              </a:solidFill>
            </c:spPr>
          </c:dPt>
          <c:dPt>
            <c:idx val="1"/>
            <c:invertIfNegative val="0"/>
            <c:spPr>
              <a:solidFill>
                <a:srgbClr val="A6A6A6"/>
              </a:solidFill>
            </c:spPr>
          </c:dPt>
          <c:dPt>
            <c:idx val="2"/>
            <c:invertIfNegative val="0"/>
            <c:spPr>
              <a:solidFill>
                <a:srgbClr val="A6A6A6"/>
              </a:solidFill>
            </c:spPr>
          </c:dPt>
          <c:dPt>
            <c:idx val="3"/>
            <c:invertIfNegative val="0"/>
            <c:spPr>
              <a:solidFill>
                <a:srgbClr val="AB3D3F"/>
              </a:solidFill>
            </c:spPr>
          </c:dPt>
          <c:dPt>
            <c:idx val="4"/>
            <c:invertIfNegative val="0"/>
            <c:spPr>
              <a:solidFill>
                <a:srgbClr val="AB3D3F"/>
              </a:solidFill>
            </c:spPr>
          </c:dPt>
          <c:dPt>
            <c:idx val="5"/>
            <c:invertIfNegative val="0"/>
            <c:spPr>
              <a:solidFill>
                <a:srgbClr val="AB3D3F"/>
              </a:solidFill>
            </c:spPr>
          </c:dPt>
          <c:cat>
            <c:strRef>
              <c:f>Sheet1!$A$2:$A$7</c:f>
              <c:strCache>
                <c:ptCount val="6"/>
                <c:pt idx="0">
                  <c:v>N = 1</c:v>
                </c:pt>
                <c:pt idx="1">
                  <c:v>N = 2</c:v>
                </c:pt>
                <c:pt idx="2">
                  <c:v>N = 3</c:v>
                </c:pt>
                <c:pt idx="3">
                  <c:v>N = 4</c:v>
                </c:pt>
                <c:pt idx="4">
                  <c:v>N = 5</c:v>
                </c:pt>
                <c:pt idx="5">
                  <c:v>N = 6</c:v>
                </c:pt>
              </c:strCache>
            </c:strRef>
          </c:cat>
          <c:val>
            <c:numRef>
              <c:f>Sheet1!$B$2:$B$7</c:f>
              <c:numCache>
                <c:formatCode>General</c:formatCode>
                <c:ptCount val="6"/>
                <c:pt idx="0">
                  <c:v>534.7</c:v>
                </c:pt>
                <c:pt idx="1">
                  <c:v>121.2</c:v>
                </c:pt>
                <c:pt idx="2">
                  <c:v>77.7</c:v>
                </c:pt>
                <c:pt idx="3">
                  <c:v>70.5</c:v>
                </c:pt>
                <c:pt idx="4">
                  <c:v>69.3</c:v>
                </c:pt>
                <c:pt idx="5">
                  <c:v>69.7</c:v>
                </c:pt>
              </c:numCache>
            </c:numRef>
          </c:val>
        </c:ser>
        <c:dLbls>
          <c:numFmt formatCode="0.0" sourceLinked="0"/>
          <c:txPr>
            <a:bodyPr/>
            <a:lstStyle/>
            <a:p>
              <a:pPr>
                <a:defRPr sz="13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nextTo"/>
        <c:spPr>
          <a:ln>
            <a:solidFill>
              <a:srgbClr val="A6A6A6"/>
            </a:solidFill>
          </a:ln>
        </c:spPr>
        <c:txPr>
          <a:bodyPr/>
          <a:lstStyle/>
          <a:p>
            <a:pPr>
              <a:defRPr sz="1200"/>
            </a:pPr>
          </a:p>
        </c:txPr>
        <c:crossAx val="-2113994440"/>
        <c:crosses val="autoZero"/>
        <c:auto val="1"/>
        <c:lblAlgn val="ctr"/>
        <c:lblOffset val="100"/>
        <c:noMultiLvlLbl val="0"/>
      </c:catAx>
      <c:valAx>
        <c:axId val="-2113994440"/>
        <c:scaling/>
        <c:delete/>
        <c:axPos val="l"/>
        <c:numFmt formatCode="0.0" sourceLinked="0"/>
        <c:majorTickMark val="none"/>
        <c:minorTickMark val="none"/>
        <c:tickLblPos val="nextTo"/>
        <c:spPr>
          <a:ln>
            <a:noFill/>
          </a:ln>
        </c:spPr>
        <c:txPr>
          <a:bodyPr/>
          <a:lstStyle/>
          <a:p>
            <a:pPr>
              <a:defRPr sz="1100">
                <a:solidFill>
                  <a:srgbClr val="595959"/>
                </a:solidFill>
              </a:defRPr>
            </a:pPr>
          </a:p>
        </c:txPr>
        <c:crossAx val="-2068027336"/>
        <c:crosses val="autoZero"/>
      </c:valAx>
    </c:plotArea>
    <c:dispBlanksAs val="gap"/>
  </c:chart>
  <c:txPr>
    <a:bodyPr/>
    <a:lstStyle/>
    <a:p>
      <a:pPr>
        <a:defRPr sz="1200">
          <a:solidFill>
            <a:srgbClr val="262626"/>
          </a:solidFill>
          <a:latin typeface="Candar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spPr>
            <a:solidFill>
              <a:srgbClr val="A6A6A6"/>
            </a:solidFill>
          </c:spPr>
          <c:invertIfNegative val="0"/>
          <c:dPt>
            <c:idx val="0"/>
            <c:invertIfNegative val="0"/>
            <c:spPr>
              <a:solidFill>
                <a:srgbClr val="A6A6A6"/>
              </a:solidFill>
            </c:spPr>
          </c:dPt>
          <c:dPt>
            <c:idx val="1"/>
            <c:invertIfNegative val="0"/>
            <c:spPr>
              <a:solidFill>
                <a:srgbClr val="A6A6A6"/>
              </a:solidFill>
            </c:spPr>
          </c:dPt>
          <c:dPt>
            <c:idx val="2"/>
            <c:invertIfNegative val="0"/>
            <c:spPr>
              <a:solidFill>
                <a:srgbClr val="A6A6A6"/>
              </a:solidFill>
            </c:spPr>
          </c:dPt>
          <c:dPt>
            <c:idx val="3"/>
            <c:invertIfNegative val="0"/>
            <c:spPr>
              <a:solidFill>
                <a:srgbClr val="A6A6A6"/>
              </a:solidFill>
            </c:spPr>
          </c:dPt>
          <c:dPt>
            <c:idx val="4"/>
            <c:invertIfNegative val="0"/>
            <c:spPr>
              <a:solidFill>
                <a:srgbClr val="AB3D3F"/>
              </a:solidFill>
            </c:spPr>
          </c:dPt>
          <c:cat>
            <c:strRef>
              <c:f>Sheet1!$A$2:$A$6</c:f>
              <c:strCache>
                <c:ptCount val="5"/>
                <c:pt idx="0">
                  <c:v>Character</c:v>
                </c:pt>
                <c:pt idx="1">
                  <c:v>Whitespace</c:v>
                </c:pt>
                <c:pt idx="2">
                  <c:v>Unicode Word</c:v>
                </c:pt>
                <c:pt idx="3">
                  <c:v>Ewe stemmer, affixes kept</c:v>
                </c:pt>
                <c:pt idx="4">
                  <c:v>BPE subwords</c:v>
                </c:pt>
              </c:strCache>
            </c:strRef>
          </c:cat>
          <c:val>
            <c:numRef>
              <c:f>Sheet1!$B$2:$B$6</c:f>
              <c:numCache>
                <c:formatCode>General</c:formatCode>
                <c:ptCount val="5"/>
                <c:pt idx="0">
                  <c:v>447.1</c:v>
                </c:pt>
                <c:pt idx="1">
                  <c:v>261.6</c:v>
                </c:pt>
                <c:pt idx="2">
                  <c:v>202.2</c:v>
                </c:pt>
                <c:pt idx="3">
                  <c:v>196.9</c:v>
                </c:pt>
                <c:pt idx="4">
                  <c:v>189.1</c:v>
                </c:pt>
              </c:numCache>
            </c:numRef>
          </c:val>
        </c:ser>
        <c:dLbls>
          <c:numFmt formatCode="0.0" sourceLinked="0"/>
          <c:txPr>
            <a:bodyPr/>
            <a:lstStyle/>
            <a:p>
              <a:pPr>
                <a:defRPr sz="13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none"/>
        <c:minorTickMark val="none"/>
        <c:tickLblPos val="low"/>
        <c:spPr>
          <a:ln>
            <a:solidFill>
              <a:srgbClr val="A6A6A6"/>
            </a:solidFill>
          </a:ln>
        </c:spPr>
        <c:txPr>
          <a:bodyPr/>
          <a:lstStyle/>
          <a:p>
            <a:pPr>
              <a:defRPr sz="1200"/>
            </a:pPr>
          </a:p>
        </c:txPr>
        <c:crossAx val="-2113994440"/>
        <c:crosses val="autoZero"/>
        <c:auto val="1"/>
        <c:lblAlgn val="ctr"/>
        <c:lblOffset val="100"/>
        <c:noMultiLvlLbl val="0"/>
      </c:catAx>
      <c:valAx>
        <c:axId val="-2113994440"/>
        <c:scaling/>
        <c:delete/>
        <c:axPos val="b"/>
        <c:numFmt formatCode="0.0" sourceLinked="0"/>
        <c:majorTickMark val="none"/>
        <c:minorTickMark val="none"/>
        <c:tickLblPos val="nextTo"/>
        <c:spPr>
          <a:ln>
            <a:noFill/>
          </a:ln>
        </c:spPr>
        <c:txPr>
          <a:bodyPr/>
          <a:lstStyle/>
          <a:p>
            <a:pPr>
              <a:defRPr sz="1100">
                <a:solidFill>
                  <a:srgbClr val="595959"/>
                </a:solidFill>
              </a:defRPr>
            </a:pPr>
          </a:p>
        </c:txPr>
        <c:crossAx val="-2068027336"/>
        <c:crosses val="autoZero"/>
      </c:valAx>
    </c:plotArea>
    <c:dispBlanksAs val="gap"/>
  </c:chart>
  <c:txPr>
    <a:bodyPr/>
    <a:lstStyle/>
    <a:p>
      <a:pPr>
        <a:defRPr sz="1200">
          <a:solidFill>
            <a:srgbClr val="262626"/>
          </a:solidFill>
          <a:latin typeface="Candara"/>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c:v>
                </c:pt>
              </c:strCache>
            </c:strRef>
          </c:tx>
          <c:spPr>
            <a:solidFill>
              <a:srgbClr val="A6A6A6"/>
            </a:solidFill>
          </c:spPr>
          <c:invertIfNegative val="0"/>
          <c:dPt>
            <c:idx val="0"/>
            <c:invertIfNegative val="0"/>
            <c:spPr>
              <a:solidFill>
                <a:srgbClr val="AB3D3F"/>
              </a:solidFill>
            </c:spPr>
          </c:dPt>
          <c:dPt>
            <c:idx val="1"/>
            <c:invertIfNegative val="0"/>
            <c:spPr>
              <a:solidFill>
                <a:srgbClr val="A6A6A6"/>
              </a:solidFill>
            </c:spPr>
          </c:dPt>
          <c:cat>
            <c:strRef>
              <c:f>Sheet1!$A$2:$A$3</c:f>
              <c:strCache>
                <c:ptCount val="2"/>
                <c:pt idx="0">
                  <c:v>n-gram (Kneser-Ney)</c:v>
                </c:pt>
                <c:pt idx="1">
                  <c:v>LSTM (mean of 3 seeds)</c:v>
                </c:pt>
              </c:strCache>
            </c:strRef>
          </c:cat>
          <c:val>
            <c:numRef>
              <c:f>Sheet1!$B$2:$B$3</c:f>
              <c:numCache>
                <c:formatCode>General</c:formatCode>
                <c:ptCount val="2"/>
                <c:pt idx="0">
                  <c:v>5807.0</c:v>
                </c:pt>
                <c:pt idx="1">
                  <c:v>7865.0</c:v>
                </c:pt>
              </c:numCache>
            </c:numRef>
          </c:val>
        </c:ser>
        <c:dLbls>
          <c:numFmt formatCode="#,##0" sourceLinked="0"/>
          <c:txPr>
            <a:bodyPr/>
            <a:lstStyle/>
            <a:p>
              <a:pPr>
                <a:defRPr sz="13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nextTo"/>
        <c:spPr>
          <a:ln>
            <a:solidFill>
              <a:srgbClr val="A6A6A6"/>
            </a:solidFill>
          </a:ln>
        </c:spPr>
        <c:txPr>
          <a:bodyPr/>
          <a:lstStyle/>
          <a:p>
            <a:pPr>
              <a:defRPr sz="1200"/>
            </a:pPr>
          </a:p>
        </c:txPr>
        <c:crossAx val="-2113994440"/>
        <c:crosses val="autoZero"/>
        <c:auto val="1"/>
        <c:lblAlgn val="ctr"/>
        <c:lblOffset val="100"/>
        <c:noMultiLvlLbl val="0"/>
      </c:catAx>
      <c:valAx>
        <c:axId val="-2113994440"/>
        <c:scaling/>
        <c:delete/>
        <c:axPos val="l"/>
        <c:numFmt formatCode="#,##0" sourceLinked="0"/>
        <c:majorTickMark val="none"/>
        <c:minorTickMark val="none"/>
        <c:tickLblPos val="nextTo"/>
        <c:spPr>
          <a:ln>
            <a:noFill/>
          </a:ln>
        </c:spPr>
        <c:txPr>
          <a:bodyPr/>
          <a:lstStyle/>
          <a:p>
            <a:pPr>
              <a:defRPr sz="1100">
                <a:solidFill>
                  <a:srgbClr val="595959"/>
                </a:solidFill>
              </a:defRPr>
            </a:pPr>
          </a:p>
        </c:txPr>
        <c:crossAx val="-2068027336"/>
        <c:crosses val="autoZero"/>
      </c:valAx>
    </c:plotArea>
    <c:dispBlanksAs val="gap"/>
  </c:chart>
  <c:txPr>
    <a:bodyPr/>
    <a:lstStyle/>
    <a:p>
      <a:pPr>
        <a:defRPr sz="1200">
          <a:solidFill>
            <a:srgbClr val="262626"/>
          </a:solidFill>
          <a:latin typeface="Candara"/>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c:v>
                </c:pt>
              </c:strCache>
            </c:strRef>
          </c:tx>
          <c:spPr>
            <a:solidFill>
              <a:srgbClr val="A6A6A6"/>
            </a:solidFill>
          </c:spPr>
          <c:invertIfNegative val="0"/>
          <c:dPt>
            <c:idx val="0"/>
            <c:invertIfNegative val="0"/>
            <c:spPr>
              <a:solidFill>
                <a:srgbClr val="A6A6A6"/>
              </a:solidFill>
            </c:spPr>
          </c:dPt>
          <c:dPt>
            <c:idx val="1"/>
            <c:invertIfNegative val="0"/>
            <c:spPr>
              <a:solidFill>
                <a:srgbClr val="AB3D3F"/>
              </a:solidFill>
            </c:spPr>
          </c:dPt>
          <c:cat>
            <c:strRef>
              <c:f>Sheet1!$A$2:$A$3</c:f>
              <c:strCache>
                <c:ptCount val="2"/>
                <c:pt idx="0">
                  <c:v>n-gram (Kneser-Ney)</c:v>
                </c:pt>
                <c:pt idx="1">
                  <c:v>LSTM (mean of 3 seeds)</c:v>
                </c:pt>
              </c:strCache>
            </c:strRef>
          </c:cat>
          <c:val>
            <c:numRef>
              <c:f>Sheet1!$B$2:$B$3</c:f>
              <c:numCache>
                <c:formatCode>General</c:formatCode>
                <c:ptCount val="2"/>
                <c:pt idx="0">
                  <c:v>189.1</c:v>
                </c:pt>
                <c:pt idx="1">
                  <c:v>166.0</c:v>
                </c:pt>
              </c:numCache>
            </c:numRef>
          </c:val>
        </c:ser>
        <c:dLbls>
          <c:numFmt formatCode="0.0" sourceLinked="0"/>
          <c:txPr>
            <a:bodyPr/>
            <a:lstStyle/>
            <a:p>
              <a:pPr>
                <a:defRPr sz="13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nextTo"/>
        <c:spPr>
          <a:ln>
            <a:solidFill>
              <a:srgbClr val="A6A6A6"/>
            </a:solidFill>
          </a:ln>
        </c:spPr>
        <c:txPr>
          <a:bodyPr/>
          <a:lstStyle/>
          <a:p>
            <a:pPr>
              <a:defRPr sz="1200"/>
            </a:pPr>
          </a:p>
        </c:txPr>
        <c:crossAx val="-2113994440"/>
        <c:crosses val="autoZero"/>
        <c:auto val="1"/>
        <c:lblAlgn val="ctr"/>
        <c:lblOffset val="100"/>
        <c:noMultiLvlLbl val="0"/>
      </c:catAx>
      <c:valAx>
        <c:axId val="-2113994440"/>
        <c:scaling/>
        <c:delete/>
        <c:axPos val="l"/>
        <c:numFmt formatCode="0.0" sourceLinked="0"/>
        <c:majorTickMark val="none"/>
        <c:minorTickMark val="none"/>
        <c:tickLblPos val="nextTo"/>
        <c:spPr>
          <a:ln>
            <a:noFill/>
          </a:ln>
        </c:spPr>
        <c:txPr>
          <a:bodyPr/>
          <a:lstStyle/>
          <a:p>
            <a:pPr>
              <a:defRPr sz="1100">
                <a:solidFill>
                  <a:srgbClr val="595959"/>
                </a:solidFill>
              </a:defRPr>
            </a:pPr>
          </a:p>
        </c:txPr>
        <c:crossAx val="-2068027336"/>
        <c:crosses val="autoZero"/>
      </c:valAx>
    </c:plotArea>
    <c:dispBlanksAs val="gap"/>
  </c:chart>
  <c:txPr>
    <a:bodyPr/>
    <a:lstStyle/>
    <a:p>
      <a:pPr>
        <a:defRPr sz="1200">
          <a:solidFill>
            <a:srgbClr val="262626"/>
          </a:solidFill>
          <a:latin typeface="Candara"/>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DBAACF-1FE1-3041-8D48-9BE4F9D3A142}" type="datetimeFigureOut">
              <a:rPr lang="en-US" smtClean="0"/>
              <a:t>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E4E99A-28DC-854C-A27F-48DAC5546BB1}" type="slidenum">
              <a:rPr lang="en-US" smtClean="0"/>
              <a:t>‹#›</a:t>
            </a:fld>
            <a:endParaRPr lang="en-US"/>
          </a:p>
        </p:txBody>
      </p:sp>
    </p:spTree>
    <p:extLst>
      <p:ext uri="{BB962C8B-B14F-4D97-AF65-F5344CB8AC3E}">
        <p14:creationId xmlns:p14="http://schemas.microsoft.com/office/powerpoint/2010/main" val="1928370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Ankora builds speech recognition, and a recogniser needs a language model to choose between candidate transcripts. We built one for Ewe, a low-resource Ghanaian language, and adapted one to agricultural English. (About 45 seconds.)</a:t>
            </a:r>
          </a:p>
          <a:p>
            <a:r>
              <a:t>The repository link must stay on this slide (assignment requirement). Add the presenters' names to this slide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There are three models, and it helps to keep them apart. The n-gram is our Section B model for Ewe. The LSTM exists only to answer Section B's question two, whether n-grams beat neural models, so it uses exactly the n-gram's data and tokens. Section C is a different model altogether: a pretrained English model adapted with LoRA. (About 60 seconds.)</a:t>
            </a:r>
          </a:p>
          <a:p>
            <a:r>
              <a:t>Sources: data/processed/unified/stats.json (total_unique_sentences); data/processed/domain_english/stats.json (unique_questions); results/section_c_llm/lora_results.json (results.standard.trainable_params / total_params).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combined four existing Ewe sources. Be upfront that a large share is religious text, which shows up in what the model generates. Ewe spelling needed care: some nasal vowels are two Unicode code points, and a lookalike letter was splitting common words. (About 60 seconds.)</a:t>
            </a:r>
          </a:p>
          <a:p>
            <a:r>
              <a:t>Sources: data/processed/unified/stats.json (total_unique_sentences, train_words, train_sentences, pct_mentioning_yehowa); data/README.md for the four sources; claims table rows 1 to 3 and 16.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More context helps a lot at first, then stops helping at about four words, even though most long contexts were never seen in training. With correct smoothing a longer context never hurts. Our first draft showed perplexity rising after N = 4; that turned out to be three bugs, not the language. (About 60 seconds.)</a:t>
            </a:r>
          </a:p>
          <a:p>
            <a:r>
              <a:t>Sources: results/section_b_ngram/unified.json, results['Unicode Word'][N-1]: perplexity, sparsity_pct, interpolation_perplexity, val_perplexity; claims table rows 4, 5, 8 and 10.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Tokenizers split the same text into different units, so their per-token perplexities measure different things. Per word they are comparable, as long as a model that predicts &lt;unk&gt; also pays to spell the word. On that basis subword units (BPE) are best, and characters are last because six characters cover only about one word of context. One exception to the ranking: on the smallest dataset, characters beat whitespace tokens. (About 60 seconds.)</a:t>
            </a:r>
          </a:p>
          <a:p>
            <a:r>
              <a:t>Sources: results/section_b_ngram/unified.json, best_order_by_val[...].per_word_perplexity and .perplexity; results[...][0].vocab_size; per-dataset files results/section_b_ngram/dataset_1..4.json; claims table rows 6, 11 and 12.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tested the brief's claim instead of assuming it. The LSTM reads exactly the n-gram's tokens and is scored the same way. On 420 sentences the n-gram wins clearly; on our full corpus the LSTM wins by about an eighth, at hours of CPU instead of minutes. So the answer depends on how much text you have. This LSTM is only a Section B baseline; it is not the Section C model. (About 75 seconds.)</a:t>
            </a:r>
          </a:p>
          <a:p>
            <a:r>
              <a:t>Sources: results/section_b_lstm/lstm_vs_ngram.json, ['2'] and ['unified']: lstm_per_word_mean, lstm_per_word_min/max, kn_bpe.per_word_perplexity, runs[].params, runs[].train_seconds, runs[].best_epoch; training words from data/processed/{dataset_2_json,unified}/stats.json. The n-gram's 7 minutes is 425 s from the sweep log (WORKLOG.md, claims table row 33). Claims table rows 28 to 34.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corpus repeats each question about ten times, so we deduplicated before splitting; our first split leaked copies of training questions into the test set. We chose LoRA because it changes the model's own probabilities, which is what scoring transcripts needs, while training a tiny fraction of the weights on a laptop CPU. (About 60 seconds.)</a:t>
            </a:r>
          </a:p>
          <a:p>
            <a:r>
              <a:t>Sources: data/processed/domain_english/stats.json (raw_rows, unique_questions, *_pairs); results/section_c_llm/lora_results.json (test_questions_seen_in_train_or_val, split_sizes.train_used, results.standard.trainable_params, total_params); claims table rows 18 to 20 and 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answer-only column is the fair measure of domain knowledge, because the full-text number also rewards learning the Question/Answer template. The WikiText column is the price: general English gets worse. The percentages are for the standard adapter. (About 60 seconds.)</a:t>
            </a:r>
          </a:p>
          <a:p>
            <a:r>
              <a:t>Sources: results/section_c_llm/lora_results.json, results.{base,standard,masked}.{full_ppl,answer_ppl,wikitext_ppl}; percentages computed from those values; claims table rows 21 and 22.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 82-million-parameter model trained on 500 examples learns how an extension answer sounds long before it learns agronomy. Decoding tricks stop the loops but not the errors. (About 45 seconds.)</a:t>
            </a:r>
          </a:p>
          <a:p>
            <a:r>
              <a:t>Sources: results/section_c_llm/lora_results.json, prompts[2] and results.{standard,masked}.samples[2] (first sentence, verbatim); results/section_c_llm/decoding_benchmark.json, strategy_averages; claims table rows 24 and 25.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Our biggest lessons came from our own mistakes. Each of these was caught by checking the results against the code, and each check is now part of the repository. (About 60 seconds.)</a:t>
            </a:r>
          </a:p>
          <a:p>
            <a:r>
              <a:t>Sources: the three bugs and the 16 leaked pairs are audit findings recorded in WORKLOG.md (2026-09-21 and 2026-09-22) and in the claims table rows 15, 17 and 26; the takeaways repeat numbers from slides 4 to 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Thank you. Every number in this deck has its source in the speaker notes; we are happy to take questions on any of them.</a:t>
            </a:r>
          </a:p>
          <a:p>
            <a:r>
              <a:t>The footnote is the group's AI declaration; agree its wording as a group. Each member's own AI-use declaration belongs in their individual reflection.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902EB5-2D68-7C82-2B73-622445F073EF}"/>
              </a:ext>
            </a:extLst>
          </p:cNvPr>
          <p:cNvSpPr>
            <a:spLocks noGrp="1" noRot="1" noMove="1" noResize="1" noEditPoints="1" noAdjustHandles="1" noChangeArrowheads="1" noChangeShapeType="1"/>
          </p:cNvSpPr>
          <p:nvPr userDrawn="1"/>
        </p:nvSpPr>
        <p:spPr>
          <a:xfrm>
            <a:off x="0" y="0"/>
            <a:ext cx="12277618" cy="6858000"/>
          </a:xfrm>
          <a:prstGeom prst="rect">
            <a:avLst/>
          </a:prstGeom>
          <a:solidFill>
            <a:srgbClr val="AB3D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BFBB8DB6-0644-6D85-CE40-32DB5FC89436}"/>
              </a:ext>
            </a:extLst>
          </p:cNvPr>
          <p:cNvSpPr>
            <a:spLocks noGrp="1"/>
          </p:cNvSpPr>
          <p:nvPr>
            <p:ph type="ctrTitle" hasCustomPrompt="1"/>
          </p:nvPr>
        </p:nvSpPr>
        <p:spPr>
          <a:xfrm>
            <a:off x="1524000" y="1646345"/>
            <a:ext cx="9144000" cy="2387600"/>
          </a:xfrm>
        </p:spPr>
        <p:txBody>
          <a:bodyPr anchor="b">
            <a:normAutofit/>
          </a:bodyPr>
          <a:lstStyle>
            <a:lvl1pPr algn="ctr">
              <a:defRPr sz="7200" b="1">
                <a:solidFill>
                  <a:schemeClr val="bg1"/>
                </a:solidFill>
                <a:latin typeface="Poppins" pitchFamily="2" charset="77"/>
                <a:cs typeface="Poppins" pitchFamily="2" charset="77"/>
              </a:defRPr>
            </a:lvl1pPr>
          </a:lstStyle>
          <a:p>
            <a:r>
              <a:rPr lang="en-US" dirty="0"/>
              <a:t>Presentation Title</a:t>
            </a:r>
          </a:p>
        </p:txBody>
      </p:sp>
      <p:sp>
        <p:nvSpPr>
          <p:cNvPr id="3" name="Subtitle 2">
            <a:extLst>
              <a:ext uri="{FF2B5EF4-FFF2-40B4-BE49-F238E27FC236}">
                <a16:creationId xmlns:a16="http://schemas.microsoft.com/office/drawing/2014/main" id="{B01F9ADF-AB1D-D8EF-C0DC-CC65B87FEC60}"/>
              </a:ext>
            </a:extLst>
          </p:cNvPr>
          <p:cNvSpPr>
            <a:spLocks noGrp="1"/>
          </p:cNvSpPr>
          <p:nvPr>
            <p:ph type="subTitle" idx="1" hasCustomPrompt="1"/>
          </p:nvPr>
        </p:nvSpPr>
        <p:spPr>
          <a:xfrm>
            <a:off x="1524000" y="4126020"/>
            <a:ext cx="9144000" cy="1655762"/>
          </a:xfrm>
        </p:spPr>
        <p:txBody>
          <a:bodyPr>
            <a:normAutofit/>
          </a:bodyPr>
          <a:lstStyle>
            <a:lvl1pPr marL="0" indent="0" algn="ctr">
              <a:buNone/>
              <a:defRPr sz="2800">
                <a:solidFill>
                  <a:srgbClr val="FEBA5A"/>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Name of presenter/Presentation Theme</a:t>
            </a:r>
          </a:p>
        </p:txBody>
      </p:sp>
      <p:pic>
        <p:nvPicPr>
          <p:cNvPr id="5" name="Picture 4" descr="A logo on a black background&#10;&#10;AI-generated content may be incorrect.">
            <a:extLst>
              <a:ext uri="{FF2B5EF4-FFF2-40B4-BE49-F238E27FC236}">
                <a16:creationId xmlns:a16="http://schemas.microsoft.com/office/drawing/2014/main" id="{740E5B89-BE2A-8897-9C51-87939D7ACE0C}"/>
              </a:ext>
            </a:extLst>
          </p:cNvPr>
          <p:cNvPicPr>
            <a:picLocks noChangeAspect="1"/>
          </p:cNvPicPr>
          <p:nvPr userDrawn="1"/>
        </p:nvPicPr>
        <p:blipFill>
          <a:blip r:embed="rId2"/>
          <a:stretch>
            <a:fillRect/>
          </a:stretch>
        </p:blipFill>
        <p:spPr>
          <a:xfrm>
            <a:off x="4998464" y="612116"/>
            <a:ext cx="2280690" cy="1763222"/>
          </a:xfrm>
          <a:prstGeom prst="rect">
            <a:avLst/>
          </a:prstGeom>
        </p:spPr>
      </p:pic>
    </p:spTree>
    <p:extLst>
      <p:ext uri="{BB962C8B-B14F-4D97-AF65-F5344CB8AC3E}">
        <p14:creationId xmlns:p14="http://schemas.microsoft.com/office/powerpoint/2010/main" val="21041662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mage +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902EB5-2D68-7C82-2B73-622445F073EF}"/>
              </a:ext>
            </a:extLst>
          </p:cNvPr>
          <p:cNvSpPr>
            <a:spLocks/>
          </p:cNvSpPr>
          <p:nvPr userDrawn="1"/>
        </p:nvSpPr>
        <p:spPr>
          <a:xfrm>
            <a:off x="6519862" y="0"/>
            <a:ext cx="5757755" cy="6858000"/>
          </a:xfrm>
          <a:prstGeom prst="rect">
            <a:avLst/>
          </a:prstGeom>
          <a:solidFill>
            <a:srgbClr val="AB3D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Picture Placeholder 10">
            <a:extLst>
              <a:ext uri="{FF2B5EF4-FFF2-40B4-BE49-F238E27FC236}">
                <a16:creationId xmlns:a16="http://schemas.microsoft.com/office/drawing/2014/main" id="{E6EEFFD5-8D2F-6A6F-D9D7-941FC95C9AFD}"/>
              </a:ext>
            </a:extLst>
          </p:cNvPr>
          <p:cNvSpPr>
            <a:spLocks noGrp="1"/>
          </p:cNvSpPr>
          <p:nvPr>
            <p:ph type="pic" sz="quarter" idx="12"/>
          </p:nvPr>
        </p:nvSpPr>
        <p:spPr>
          <a:xfrm>
            <a:off x="6519863" y="0"/>
            <a:ext cx="5757862" cy="6858000"/>
          </a:xfrm>
        </p:spPr>
        <p:txBody>
          <a:bodyPr/>
          <a:lstStyle/>
          <a:p>
            <a:endParaRPr lang="en-US"/>
          </a:p>
        </p:txBody>
      </p:sp>
      <p:sp>
        <p:nvSpPr>
          <p:cNvPr id="5" name="Text Placeholder 4">
            <a:extLst>
              <a:ext uri="{FF2B5EF4-FFF2-40B4-BE49-F238E27FC236}">
                <a16:creationId xmlns:a16="http://schemas.microsoft.com/office/drawing/2014/main" id="{FEF3FB70-BBA1-C271-9855-4C1FF207E380}"/>
              </a:ext>
            </a:extLst>
          </p:cNvPr>
          <p:cNvSpPr>
            <a:spLocks noGrp="1"/>
          </p:cNvSpPr>
          <p:nvPr>
            <p:ph type="body" sz="quarter" idx="10" hasCustomPrompt="1"/>
          </p:nvPr>
        </p:nvSpPr>
        <p:spPr>
          <a:xfrm>
            <a:off x="571500" y="1888095"/>
            <a:ext cx="5100639" cy="3571875"/>
          </a:xfrm>
        </p:spPr>
        <p:txBody>
          <a:bodyPr/>
          <a:lstStyle>
            <a:lvl1pPr marL="9525" indent="-9525">
              <a:lnSpc>
                <a:spcPct val="90000"/>
              </a:lnSpc>
              <a:spcBef>
                <a:spcPts val="0"/>
              </a:spcBef>
              <a:spcAft>
                <a:spcPts val="0"/>
              </a:spcAft>
              <a:buNone/>
              <a:tabLst/>
              <a:defRPr sz="2000">
                <a:solidFill>
                  <a:schemeClr val="tx1"/>
                </a:solidFill>
              </a:defRPr>
            </a:lvl1pPr>
            <a:lvl2pPr marL="234950" indent="-234950">
              <a:lnSpc>
                <a:spcPct val="90000"/>
              </a:lnSpc>
              <a:spcBef>
                <a:spcPts val="0"/>
              </a:spcBef>
              <a:spcAft>
                <a:spcPts val="0"/>
              </a:spcAft>
              <a:buNone/>
              <a:tabLst/>
              <a:defRPr sz="2000">
                <a:solidFill>
                  <a:schemeClr val="bg1"/>
                </a:solidFill>
              </a:defRPr>
            </a:lvl2pPr>
            <a:lvl3pPr marL="234950" indent="-234950">
              <a:lnSpc>
                <a:spcPct val="90000"/>
              </a:lnSpc>
              <a:spcBef>
                <a:spcPts val="0"/>
              </a:spcBef>
              <a:spcAft>
                <a:spcPts val="0"/>
              </a:spcAft>
              <a:buNone/>
              <a:tabLst/>
              <a:defRPr sz="2000">
                <a:solidFill>
                  <a:schemeClr val="bg1"/>
                </a:solidFill>
              </a:defRPr>
            </a:lvl3pPr>
            <a:lvl4pPr marL="234950" indent="-234950">
              <a:lnSpc>
                <a:spcPct val="90000"/>
              </a:lnSpc>
              <a:spcBef>
                <a:spcPts val="0"/>
              </a:spcBef>
              <a:spcAft>
                <a:spcPts val="0"/>
              </a:spcAft>
              <a:buNone/>
              <a:tabLst/>
              <a:defRPr sz="2000">
                <a:solidFill>
                  <a:schemeClr val="bg1"/>
                </a:solidFill>
              </a:defRPr>
            </a:lvl4pPr>
            <a:lvl5pPr marL="234950" indent="-234950">
              <a:lnSpc>
                <a:spcPct val="90000"/>
              </a:lnSpc>
              <a:spcBef>
                <a:spcPts val="0"/>
              </a:spcBef>
              <a:spcAft>
                <a:spcPts val="0"/>
              </a:spcAft>
              <a:buNone/>
              <a:tabLst/>
              <a:defRPr sz="2000">
                <a:solidFill>
                  <a:schemeClr val="bg1"/>
                </a:solidFill>
              </a:defRPr>
            </a:lvl5pPr>
          </a:lstStyle>
          <a:p>
            <a:pPr lvl="0"/>
            <a:r>
              <a:rPr lang="en-US" dirty="0"/>
              <a:t>Lorem ipsum dolor sit amet, consectetuer adipiscing elit. Maecenas porttitor congue massa. Fusce posuere, magna sed pulvinar ultricies, purus lectus malesuada libero, sit amet commodo magna eros quis urna.</a:t>
            </a:r>
          </a:p>
          <a:p>
            <a:pPr lvl="0"/>
            <a:endParaRPr lang="en-US" dirty="0"/>
          </a:p>
          <a:p>
            <a:pPr lvl="0"/>
            <a:r>
              <a:rPr lang="en-US" dirty="0"/>
              <a:t>Nunc viverra imperdiet enim. Fusce est. Vivamus a tellus.</a:t>
            </a:r>
          </a:p>
          <a:p>
            <a:pPr lvl="0"/>
            <a:endParaRPr lang="en-US" dirty="0"/>
          </a:p>
          <a:p>
            <a:pPr lvl="0"/>
            <a:r>
              <a:rPr lang="en-US" dirty="0"/>
              <a:t>Pellentesque habitant morbi tristique senectus et netus et malesuada fames ac turpis egestas. Proin pharetra nonummy pede. Mauris et orci.</a:t>
            </a:r>
          </a:p>
          <a:p>
            <a:pPr lvl="0"/>
            <a:endParaRPr lang="en-US" dirty="0"/>
          </a:p>
        </p:txBody>
      </p:sp>
      <p:sp>
        <p:nvSpPr>
          <p:cNvPr id="9" name="Text Placeholder 8">
            <a:extLst>
              <a:ext uri="{FF2B5EF4-FFF2-40B4-BE49-F238E27FC236}">
                <a16:creationId xmlns:a16="http://schemas.microsoft.com/office/drawing/2014/main" id="{5B35178F-B3E4-F499-8725-5BB0E2121E46}"/>
              </a:ext>
            </a:extLst>
          </p:cNvPr>
          <p:cNvSpPr>
            <a:spLocks noGrp="1"/>
          </p:cNvSpPr>
          <p:nvPr>
            <p:ph type="body" sz="quarter" idx="11" hasCustomPrompt="1"/>
          </p:nvPr>
        </p:nvSpPr>
        <p:spPr>
          <a:xfrm>
            <a:off x="571500" y="571500"/>
            <a:ext cx="5366963" cy="825785"/>
          </a:xfrm>
        </p:spPr>
        <p:txBody>
          <a:bodyPr>
            <a:noAutofit/>
          </a:bodyPr>
          <a:lstStyle>
            <a:lvl1pPr marL="9525" indent="-9525">
              <a:buNone/>
              <a:tabLst/>
              <a:defRPr sz="3200" b="1" i="0">
                <a:solidFill>
                  <a:srgbClr val="AB3D3F"/>
                </a:solidFill>
                <a:latin typeface="Poppins" pitchFamily="2" charset="77"/>
                <a:cs typeface="Poppins" pitchFamily="2" charset="77"/>
              </a:defRPr>
            </a:lvl1pPr>
            <a:lvl2pPr marL="9525" indent="-9525">
              <a:buNone/>
              <a:tabLst/>
              <a:defRPr>
                <a:solidFill>
                  <a:srgbClr val="FEBA5A"/>
                </a:solidFill>
              </a:defRPr>
            </a:lvl2pPr>
            <a:lvl3pPr marL="9525" indent="-9525">
              <a:buNone/>
              <a:tabLst/>
              <a:defRPr>
                <a:solidFill>
                  <a:srgbClr val="FEBA5A"/>
                </a:solidFill>
              </a:defRPr>
            </a:lvl3pPr>
            <a:lvl4pPr marL="9525" indent="-9525">
              <a:buNone/>
              <a:tabLst/>
              <a:defRPr>
                <a:solidFill>
                  <a:srgbClr val="FEBA5A"/>
                </a:solidFill>
              </a:defRPr>
            </a:lvl4pPr>
            <a:lvl5pPr marL="9525" indent="-9525">
              <a:buNone/>
              <a:tabLst/>
              <a:defRPr>
                <a:solidFill>
                  <a:srgbClr val="FEBA5A"/>
                </a:solidFill>
              </a:defRPr>
            </a:lvl5pPr>
          </a:lstStyle>
          <a:p>
            <a:pPr lvl="0"/>
            <a:r>
              <a:rPr lang="en-US" dirty="0"/>
              <a:t>Page Title Goes Here</a:t>
            </a:r>
          </a:p>
        </p:txBody>
      </p:sp>
      <p:pic>
        <p:nvPicPr>
          <p:cNvPr id="3" name="Picture 2" descr="A person standing in front of a black background&#10;&#10;AI-generated content may be incorrect.">
            <a:extLst>
              <a:ext uri="{FF2B5EF4-FFF2-40B4-BE49-F238E27FC236}">
                <a16:creationId xmlns:a16="http://schemas.microsoft.com/office/drawing/2014/main" id="{E7071D51-2DED-DED6-4D8B-311C90842A7E}"/>
              </a:ext>
            </a:extLst>
          </p:cNvPr>
          <p:cNvPicPr>
            <a:picLocks noChangeAspect="1"/>
          </p:cNvPicPr>
          <p:nvPr userDrawn="1"/>
        </p:nvPicPr>
        <p:blipFill>
          <a:blip r:embed="rId2"/>
          <a:stretch>
            <a:fillRect/>
          </a:stretch>
        </p:blipFill>
        <p:spPr>
          <a:xfrm>
            <a:off x="490019" y="5950781"/>
            <a:ext cx="1872037" cy="717198"/>
          </a:xfrm>
          <a:prstGeom prst="rect">
            <a:avLst/>
          </a:prstGeom>
        </p:spPr>
      </p:pic>
    </p:spTree>
    <p:extLst>
      <p:ext uri="{BB962C8B-B14F-4D97-AF65-F5344CB8AC3E}">
        <p14:creationId xmlns:p14="http://schemas.microsoft.com/office/powerpoint/2010/main" val="33483192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mage+text2">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608DBBC-2EEC-3B63-D7C7-7266B5211665}"/>
              </a:ext>
            </a:extLst>
          </p:cNvPr>
          <p:cNvSpPr>
            <a:spLocks noGrp="1"/>
          </p:cNvSpPr>
          <p:nvPr>
            <p:ph type="body" sz="quarter" idx="10" hasCustomPrompt="1"/>
          </p:nvPr>
        </p:nvSpPr>
        <p:spPr>
          <a:xfrm>
            <a:off x="571500" y="1718251"/>
            <a:ext cx="5099050" cy="3853874"/>
          </a:xfrm>
        </p:spPr>
        <p:txBody>
          <a:bodyPr/>
          <a:lstStyle>
            <a:lvl1pPr marL="9525" indent="-9525">
              <a:buNone/>
              <a:tabLst/>
              <a:defRPr sz="2000"/>
            </a:lvl1pPr>
            <a:lvl2pPr marL="9525" indent="-9525">
              <a:buNone/>
              <a:tabLst/>
              <a:defRPr sz="2000"/>
            </a:lvl2pPr>
            <a:lvl3pPr marL="9525" indent="-9525">
              <a:buNone/>
              <a:tabLst/>
              <a:defRPr sz="2000"/>
            </a:lvl3pPr>
            <a:lvl4pPr marL="9525" indent="-9525">
              <a:buNone/>
              <a:tabLst/>
              <a:defRPr sz="2000"/>
            </a:lvl4pPr>
            <a:lvl5pPr marL="9525" indent="-9525">
              <a:buNone/>
              <a:tabLst/>
              <a:defRPr sz="2000"/>
            </a:lvl5pPr>
          </a:lstStyle>
          <a:p>
            <a:pPr lvl="0"/>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a:t>.</a:t>
            </a:r>
            <a:br>
              <a:rPr lang="en-US"/>
            </a:br>
            <a:br>
              <a:rPr lang="en-US"/>
            </a:br>
            <a:r>
              <a:rPr lang="en-US"/>
              <a:t>Nunc </a:t>
            </a:r>
            <a:r>
              <a:rPr lang="en-US" dirty="0"/>
              <a:t>viverra imperdiet enim. Fusce est. Vivamus a </a:t>
            </a:r>
            <a:r>
              <a:rPr lang="en-US" dirty="0" err="1"/>
              <a:t>tellus</a:t>
            </a:r>
            <a:r>
              <a:rPr lang="en-US" dirty="0"/>
              <a:t>. </a:t>
            </a:r>
            <a:r>
              <a:rPr lang="en-US" dirty="0" err="1"/>
              <a:t>Pellentesque</a:t>
            </a:r>
            <a:r>
              <a:rPr lang="en-US" dirty="0"/>
              <a:t> habitant morbi tristique senectus et netus et malesuada fames ac turpis egestas. </a:t>
            </a:r>
          </a:p>
        </p:txBody>
      </p:sp>
      <p:sp>
        <p:nvSpPr>
          <p:cNvPr id="9" name="Text Placeholder 8">
            <a:extLst>
              <a:ext uri="{FF2B5EF4-FFF2-40B4-BE49-F238E27FC236}">
                <a16:creationId xmlns:a16="http://schemas.microsoft.com/office/drawing/2014/main" id="{EEB79326-57CB-B585-F8AA-E3AE38C62A9B}"/>
              </a:ext>
            </a:extLst>
          </p:cNvPr>
          <p:cNvSpPr>
            <a:spLocks noGrp="1"/>
          </p:cNvSpPr>
          <p:nvPr>
            <p:ph type="body" sz="quarter" idx="11" hasCustomPrompt="1"/>
          </p:nvPr>
        </p:nvSpPr>
        <p:spPr>
          <a:xfrm>
            <a:off x="571500" y="571500"/>
            <a:ext cx="5839574" cy="737700"/>
          </a:xfrm>
        </p:spPr>
        <p:txBody>
          <a:bodyPr>
            <a:noAutofit/>
          </a:bodyPr>
          <a:lstStyle>
            <a:lvl1pPr marL="9525" indent="-9525">
              <a:buNone/>
              <a:tabLst/>
              <a:defRPr sz="3200" b="1" i="0">
                <a:solidFill>
                  <a:srgbClr val="AB3D3F"/>
                </a:solidFill>
                <a:latin typeface="Poppins" pitchFamily="2" charset="77"/>
                <a:cs typeface="Poppins" pitchFamily="2" charset="77"/>
              </a:defRPr>
            </a:lvl1pPr>
            <a:lvl2pPr marL="9525" indent="-9525">
              <a:buNone/>
              <a:tabLst/>
              <a:defRPr>
                <a:solidFill>
                  <a:srgbClr val="FEBA5A"/>
                </a:solidFill>
              </a:defRPr>
            </a:lvl2pPr>
            <a:lvl3pPr marL="9525" indent="-9525">
              <a:buNone/>
              <a:tabLst/>
              <a:defRPr>
                <a:solidFill>
                  <a:srgbClr val="FEBA5A"/>
                </a:solidFill>
              </a:defRPr>
            </a:lvl3pPr>
            <a:lvl4pPr marL="9525" indent="-9525">
              <a:buNone/>
              <a:tabLst/>
              <a:defRPr>
                <a:solidFill>
                  <a:srgbClr val="FEBA5A"/>
                </a:solidFill>
              </a:defRPr>
            </a:lvl4pPr>
            <a:lvl5pPr marL="9525" indent="-9525">
              <a:buNone/>
              <a:tabLst/>
              <a:defRPr>
                <a:solidFill>
                  <a:srgbClr val="FEBA5A"/>
                </a:solidFill>
              </a:defRPr>
            </a:lvl5pPr>
          </a:lstStyle>
          <a:p>
            <a:pPr lvl="0"/>
            <a:r>
              <a:rPr lang="en-US" dirty="0"/>
              <a:t>Page Title Goes Here</a:t>
            </a:r>
          </a:p>
        </p:txBody>
      </p:sp>
      <p:sp>
        <p:nvSpPr>
          <p:cNvPr id="14" name="Online Image Placeholder 13">
            <a:extLst>
              <a:ext uri="{FF2B5EF4-FFF2-40B4-BE49-F238E27FC236}">
                <a16:creationId xmlns:a16="http://schemas.microsoft.com/office/drawing/2014/main" id="{2C7AA65B-40A4-C038-8C70-8C73E9A7E96A}"/>
              </a:ext>
            </a:extLst>
          </p:cNvPr>
          <p:cNvSpPr>
            <a:spLocks noGrp="1"/>
          </p:cNvSpPr>
          <p:nvPr>
            <p:ph type="clipArt" sz="quarter" idx="12"/>
          </p:nvPr>
        </p:nvSpPr>
        <p:spPr>
          <a:xfrm>
            <a:off x="6637338" y="571500"/>
            <a:ext cx="4983162" cy="4983163"/>
          </a:xfrm>
          <a:solidFill>
            <a:schemeClr val="bg1">
              <a:lumMod val="85000"/>
            </a:schemeClr>
          </a:solidFill>
        </p:spPr>
        <p:txBody>
          <a:bodyPr/>
          <a:lstStyle/>
          <a:p>
            <a:endParaRPr lang="en-US"/>
          </a:p>
        </p:txBody>
      </p:sp>
      <p:pic>
        <p:nvPicPr>
          <p:cNvPr id="3" name="Picture 2" descr="A person standing in front of a black background&#10;&#10;AI-generated content may be incorrect.">
            <a:extLst>
              <a:ext uri="{FF2B5EF4-FFF2-40B4-BE49-F238E27FC236}">
                <a16:creationId xmlns:a16="http://schemas.microsoft.com/office/drawing/2014/main" id="{8BA22CA2-7FB6-DBFF-30E0-A66D4015C802}"/>
              </a:ext>
            </a:extLst>
          </p:cNvPr>
          <p:cNvPicPr>
            <a:picLocks noChangeAspect="1"/>
          </p:cNvPicPr>
          <p:nvPr userDrawn="1"/>
        </p:nvPicPr>
        <p:blipFill>
          <a:blip r:embed="rId2"/>
          <a:stretch>
            <a:fillRect/>
          </a:stretch>
        </p:blipFill>
        <p:spPr>
          <a:xfrm>
            <a:off x="490019" y="5950781"/>
            <a:ext cx="1872037" cy="717198"/>
          </a:xfrm>
          <a:prstGeom prst="rect">
            <a:avLst/>
          </a:prstGeom>
        </p:spPr>
      </p:pic>
    </p:spTree>
    <p:extLst>
      <p:ext uri="{BB962C8B-B14F-4D97-AF65-F5344CB8AC3E}">
        <p14:creationId xmlns:p14="http://schemas.microsoft.com/office/powerpoint/2010/main" val="39118440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Heavy">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B35178F-B3E4-F499-8725-5BB0E2121E46}"/>
              </a:ext>
            </a:extLst>
          </p:cNvPr>
          <p:cNvSpPr>
            <a:spLocks noGrp="1"/>
          </p:cNvSpPr>
          <p:nvPr>
            <p:ph type="body" sz="quarter" idx="11" hasCustomPrompt="1"/>
          </p:nvPr>
        </p:nvSpPr>
        <p:spPr>
          <a:xfrm>
            <a:off x="571500" y="571500"/>
            <a:ext cx="5839574" cy="737700"/>
          </a:xfrm>
        </p:spPr>
        <p:txBody>
          <a:bodyPr>
            <a:noAutofit/>
          </a:bodyPr>
          <a:lstStyle>
            <a:lvl1pPr marL="9525" indent="-9525">
              <a:buNone/>
              <a:tabLst/>
              <a:defRPr sz="3200" b="1" i="0">
                <a:solidFill>
                  <a:srgbClr val="AB3D3F"/>
                </a:solidFill>
                <a:latin typeface="Poppins" pitchFamily="2" charset="77"/>
                <a:cs typeface="Poppins" pitchFamily="2" charset="77"/>
              </a:defRPr>
            </a:lvl1pPr>
            <a:lvl2pPr marL="9525" indent="-9525">
              <a:buNone/>
              <a:tabLst/>
              <a:defRPr>
                <a:solidFill>
                  <a:srgbClr val="FEBA5A"/>
                </a:solidFill>
              </a:defRPr>
            </a:lvl2pPr>
            <a:lvl3pPr marL="9525" indent="-9525">
              <a:buNone/>
              <a:tabLst/>
              <a:defRPr>
                <a:solidFill>
                  <a:srgbClr val="FEBA5A"/>
                </a:solidFill>
              </a:defRPr>
            </a:lvl3pPr>
            <a:lvl4pPr marL="9525" indent="-9525">
              <a:buNone/>
              <a:tabLst/>
              <a:defRPr>
                <a:solidFill>
                  <a:srgbClr val="FEBA5A"/>
                </a:solidFill>
              </a:defRPr>
            </a:lvl4pPr>
            <a:lvl5pPr marL="9525" indent="-9525">
              <a:buNone/>
              <a:tabLst/>
              <a:defRPr>
                <a:solidFill>
                  <a:srgbClr val="FEBA5A"/>
                </a:solidFill>
              </a:defRPr>
            </a:lvl5pPr>
          </a:lstStyle>
          <a:p>
            <a:pPr lvl="0"/>
            <a:r>
              <a:rPr lang="en-US" dirty="0"/>
              <a:t>Page Title Goes Here</a:t>
            </a:r>
          </a:p>
        </p:txBody>
      </p:sp>
      <p:sp>
        <p:nvSpPr>
          <p:cNvPr id="6" name="Text Placeholder 5">
            <a:extLst>
              <a:ext uri="{FF2B5EF4-FFF2-40B4-BE49-F238E27FC236}">
                <a16:creationId xmlns:a16="http://schemas.microsoft.com/office/drawing/2014/main" id="{E85375A8-91AB-0E93-E5FB-EC93D13BAFBE}"/>
              </a:ext>
            </a:extLst>
          </p:cNvPr>
          <p:cNvSpPr>
            <a:spLocks noGrp="1"/>
          </p:cNvSpPr>
          <p:nvPr>
            <p:ph type="body" sz="quarter" idx="12" hasCustomPrompt="1"/>
          </p:nvPr>
        </p:nvSpPr>
        <p:spPr>
          <a:xfrm>
            <a:off x="571500" y="1705831"/>
            <a:ext cx="5325866" cy="3866294"/>
          </a:xfrm>
        </p:spPr>
        <p:txBody>
          <a:bodyPr numCol="1">
            <a:noAutofit/>
          </a:bodyPr>
          <a:lstStyle>
            <a:lvl1pPr marL="9525" indent="0">
              <a:lnSpc>
                <a:spcPct val="100000"/>
              </a:lnSpc>
              <a:spcBef>
                <a:spcPts val="200"/>
              </a:spcBef>
              <a:buNone/>
              <a:tabLst/>
              <a:defRPr sz="2000"/>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dirty="0"/>
              <a:t>Lorem ipsum dolor sit amet, consectetuer adipiscing elit. Maecenas porttitor congue massa. Fusce posuere, magna sed pulvinar ultricies, purus lectus malesuada libero, sit amet commodo magna eros quis urna.</a:t>
            </a:r>
          </a:p>
          <a:p>
            <a:pPr lvl="0"/>
            <a:endParaRPr lang="en-US" dirty="0"/>
          </a:p>
          <a:p>
            <a:pPr lvl="0"/>
            <a:r>
              <a:rPr lang="en-US" dirty="0"/>
              <a:t>Nunc viverra imperdiet enim. Fusce est. Vivamus a tellus.</a:t>
            </a:r>
          </a:p>
          <a:p>
            <a:pPr lvl="0"/>
            <a:endParaRPr lang="en-US" dirty="0"/>
          </a:p>
          <a:p>
            <a:pPr lvl="0"/>
            <a:r>
              <a:rPr lang="en-US" dirty="0"/>
              <a:t>Pellentesque habitant morbi tristique senectus et netus et malesuada fames ac turpis egestas. </a:t>
            </a:r>
          </a:p>
        </p:txBody>
      </p:sp>
      <p:sp>
        <p:nvSpPr>
          <p:cNvPr id="8" name="Text Placeholder 5">
            <a:extLst>
              <a:ext uri="{FF2B5EF4-FFF2-40B4-BE49-F238E27FC236}">
                <a16:creationId xmlns:a16="http://schemas.microsoft.com/office/drawing/2014/main" id="{B959AB93-84F2-5EFC-AA67-B631245F3EC0}"/>
              </a:ext>
            </a:extLst>
          </p:cNvPr>
          <p:cNvSpPr>
            <a:spLocks noGrp="1"/>
          </p:cNvSpPr>
          <p:nvPr>
            <p:ph type="body" sz="quarter" idx="13" hasCustomPrompt="1"/>
          </p:nvPr>
        </p:nvSpPr>
        <p:spPr>
          <a:xfrm>
            <a:off x="6411074" y="1705831"/>
            <a:ext cx="5209426" cy="3866294"/>
          </a:xfrm>
        </p:spPr>
        <p:txBody>
          <a:bodyPr numCol="1">
            <a:noAutofit/>
          </a:bodyPr>
          <a:lstStyle>
            <a:lvl1pPr marL="9525" indent="0">
              <a:lnSpc>
                <a:spcPct val="100000"/>
              </a:lnSpc>
              <a:spcBef>
                <a:spcPts val="200"/>
              </a:spcBef>
              <a:buNone/>
              <a:tabLst/>
              <a:defRPr sz="2000"/>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dirty="0"/>
              <a:t>Lorem ipsum dolor sit amet, consectetuer adipiscing elit. Maecenas porttitor congue massa. Fusce posuere, magna sed pulvinar ultricies, purus lectus malesuada libero, sit amet commodo magna eros quis urna.</a:t>
            </a:r>
          </a:p>
          <a:p>
            <a:pPr lvl="0"/>
            <a:endParaRPr lang="en-US" dirty="0"/>
          </a:p>
          <a:p>
            <a:pPr lvl="0"/>
            <a:r>
              <a:rPr lang="en-US" dirty="0"/>
              <a:t>Nunc viverra imperdiet enim. Fusce est. Vivamus a tellus.</a:t>
            </a:r>
          </a:p>
          <a:p>
            <a:pPr lvl="0"/>
            <a:endParaRPr lang="en-US" dirty="0"/>
          </a:p>
          <a:p>
            <a:pPr lvl="0"/>
            <a:r>
              <a:rPr lang="en-US" dirty="0"/>
              <a:t>Pellentesque habitant morbi tristique senectus et netus et malesuada fames ac turpis </a:t>
            </a:r>
            <a:r>
              <a:rPr lang="en-US" dirty="0" err="1"/>
              <a:t>egestas</a:t>
            </a:r>
            <a:r>
              <a:rPr lang="en-US" dirty="0"/>
              <a:t>.</a:t>
            </a:r>
          </a:p>
        </p:txBody>
      </p:sp>
      <p:pic>
        <p:nvPicPr>
          <p:cNvPr id="2" name="Picture 1" descr="A person standing in front of a black background&#10;&#10;AI-generated content may be incorrect.">
            <a:extLst>
              <a:ext uri="{FF2B5EF4-FFF2-40B4-BE49-F238E27FC236}">
                <a16:creationId xmlns:a16="http://schemas.microsoft.com/office/drawing/2014/main" id="{1F06BF25-D7FE-588C-3AF2-B632FFF7FCC1}"/>
              </a:ext>
            </a:extLst>
          </p:cNvPr>
          <p:cNvPicPr>
            <a:picLocks noChangeAspect="1"/>
          </p:cNvPicPr>
          <p:nvPr userDrawn="1"/>
        </p:nvPicPr>
        <p:blipFill>
          <a:blip r:embed="rId2"/>
          <a:stretch>
            <a:fillRect/>
          </a:stretch>
        </p:blipFill>
        <p:spPr>
          <a:xfrm>
            <a:off x="490019" y="5950781"/>
            <a:ext cx="1872037" cy="717198"/>
          </a:xfrm>
          <a:prstGeom prst="rect">
            <a:avLst/>
          </a:prstGeom>
        </p:spPr>
      </p:pic>
    </p:spTree>
    <p:extLst>
      <p:ext uri="{BB962C8B-B14F-4D97-AF65-F5344CB8AC3E}">
        <p14:creationId xmlns:p14="http://schemas.microsoft.com/office/powerpoint/2010/main" val="8094367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B35178F-B3E4-F499-8725-5BB0E2121E46}"/>
              </a:ext>
            </a:extLst>
          </p:cNvPr>
          <p:cNvSpPr>
            <a:spLocks noGrp="1"/>
          </p:cNvSpPr>
          <p:nvPr>
            <p:ph type="body" sz="quarter" idx="11" hasCustomPrompt="1"/>
          </p:nvPr>
        </p:nvSpPr>
        <p:spPr>
          <a:xfrm>
            <a:off x="3176213" y="2714625"/>
            <a:ext cx="5839574" cy="866882"/>
          </a:xfrm>
        </p:spPr>
        <p:txBody>
          <a:bodyPr>
            <a:noAutofit/>
          </a:bodyPr>
          <a:lstStyle>
            <a:lvl1pPr marL="9525" indent="-9525" algn="ctr">
              <a:buNone/>
              <a:tabLst/>
              <a:defRPr sz="4000" b="1" i="0">
                <a:solidFill>
                  <a:srgbClr val="AB3D3F"/>
                </a:solidFill>
                <a:latin typeface="Poppins" pitchFamily="2" charset="77"/>
                <a:cs typeface="Poppins" pitchFamily="2" charset="77"/>
              </a:defRPr>
            </a:lvl1pPr>
            <a:lvl2pPr marL="9525" indent="-9525">
              <a:buNone/>
              <a:tabLst/>
              <a:defRPr>
                <a:solidFill>
                  <a:srgbClr val="FEBA5A"/>
                </a:solidFill>
              </a:defRPr>
            </a:lvl2pPr>
            <a:lvl3pPr marL="9525" indent="-9525">
              <a:buNone/>
              <a:tabLst/>
              <a:defRPr>
                <a:solidFill>
                  <a:srgbClr val="FEBA5A"/>
                </a:solidFill>
              </a:defRPr>
            </a:lvl3pPr>
            <a:lvl4pPr marL="9525" indent="-9525">
              <a:buNone/>
              <a:tabLst/>
              <a:defRPr>
                <a:solidFill>
                  <a:srgbClr val="FEBA5A"/>
                </a:solidFill>
              </a:defRPr>
            </a:lvl4pPr>
            <a:lvl5pPr marL="9525" indent="-9525">
              <a:buNone/>
              <a:tabLst/>
              <a:defRPr>
                <a:solidFill>
                  <a:srgbClr val="FEBA5A"/>
                </a:solidFill>
              </a:defRPr>
            </a:lvl5pPr>
          </a:lstStyle>
          <a:p>
            <a:pPr lvl="0"/>
            <a:r>
              <a:rPr lang="en-US" dirty="0"/>
              <a:t>Section 1</a:t>
            </a:r>
          </a:p>
        </p:txBody>
      </p:sp>
      <p:pic>
        <p:nvPicPr>
          <p:cNvPr id="3" name="Picture 2" descr="A person standing in front of a black background&#10;&#10;AI-generated content may be incorrect.">
            <a:extLst>
              <a:ext uri="{FF2B5EF4-FFF2-40B4-BE49-F238E27FC236}">
                <a16:creationId xmlns:a16="http://schemas.microsoft.com/office/drawing/2014/main" id="{C7E7E30D-48A9-0F2C-D52B-0DCE97DD8DD0}"/>
              </a:ext>
            </a:extLst>
          </p:cNvPr>
          <p:cNvPicPr>
            <a:picLocks noChangeAspect="1"/>
          </p:cNvPicPr>
          <p:nvPr userDrawn="1"/>
        </p:nvPicPr>
        <p:blipFill>
          <a:blip r:embed="rId2"/>
          <a:stretch>
            <a:fillRect/>
          </a:stretch>
        </p:blipFill>
        <p:spPr>
          <a:xfrm>
            <a:off x="490019" y="5950781"/>
            <a:ext cx="1872037" cy="717198"/>
          </a:xfrm>
          <a:prstGeom prst="rect">
            <a:avLst/>
          </a:prstGeom>
        </p:spPr>
      </p:pic>
    </p:spTree>
    <p:extLst>
      <p:ext uri="{BB962C8B-B14F-4D97-AF65-F5344CB8AC3E}">
        <p14:creationId xmlns:p14="http://schemas.microsoft.com/office/powerpoint/2010/main" val="38573854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Caption">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61E0C39-5847-34EA-6718-F8C2CDEBD677}"/>
              </a:ext>
            </a:extLst>
          </p:cNvPr>
          <p:cNvSpPr>
            <a:spLocks noGrp="1"/>
          </p:cNvSpPr>
          <p:nvPr>
            <p:ph type="pic" sz="quarter" idx="10"/>
          </p:nvPr>
        </p:nvSpPr>
        <p:spPr>
          <a:xfrm>
            <a:off x="490018" y="571500"/>
            <a:ext cx="3540125" cy="3571875"/>
          </a:xfrm>
          <a:solidFill>
            <a:schemeClr val="bg1">
              <a:lumMod val="85000"/>
            </a:schemeClr>
          </a:solidFill>
        </p:spPr>
        <p:txBody>
          <a:bodyPr/>
          <a:lstStyle/>
          <a:p>
            <a:endParaRPr lang="en-US"/>
          </a:p>
        </p:txBody>
      </p:sp>
      <p:sp>
        <p:nvSpPr>
          <p:cNvPr id="6" name="Picture Placeholder 4">
            <a:extLst>
              <a:ext uri="{FF2B5EF4-FFF2-40B4-BE49-F238E27FC236}">
                <a16:creationId xmlns:a16="http://schemas.microsoft.com/office/drawing/2014/main" id="{8F0386ED-403C-9CE4-79D4-FB74F6612BB7}"/>
              </a:ext>
            </a:extLst>
          </p:cNvPr>
          <p:cNvSpPr>
            <a:spLocks noGrp="1"/>
          </p:cNvSpPr>
          <p:nvPr>
            <p:ph type="pic" sz="quarter" idx="11"/>
          </p:nvPr>
        </p:nvSpPr>
        <p:spPr>
          <a:xfrm>
            <a:off x="4332552" y="571500"/>
            <a:ext cx="3540125" cy="3571875"/>
          </a:xfrm>
          <a:solidFill>
            <a:schemeClr val="bg1">
              <a:lumMod val="85000"/>
            </a:schemeClr>
          </a:solidFill>
        </p:spPr>
        <p:txBody>
          <a:bodyPr/>
          <a:lstStyle/>
          <a:p>
            <a:endParaRPr lang="en-US"/>
          </a:p>
        </p:txBody>
      </p:sp>
      <p:sp>
        <p:nvSpPr>
          <p:cNvPr id="7" name="Picture Placeholder 4">
            <a:extLst>
              <a:ext uri="{FF2B5EF4-FFF2-40B4-BE49-F238E27FC236}">
                <a16:creationId xmlns:a16="http://schemas.microsoft.com/office/drawing/2014/main" id="{4DFF1C96-1D9C-0242-A355-B902B1CB68A8}"/>
              </a:ext>
            </a:extLst>
          </p:cNvPr>
          <p:cNvSpPr>
            <a:spLocks noGrp="1"/>
          </p:cNvSpPr>
          <p:nvPr>
            <p:ph type="pic" sz="quarter" idx="12"/>
          </p:nvPr>
        </p:nvSpPr>
        <p:spPr>
          <a:xfrm>
            <a:off x="8175087" y="571500"/>
            <a:ext cx="3540125" cy="3571875"/>
          </a:xfrm>
          <a:solidFill>
            <a:schemeClr val="bg1">
              <a:lumMod val="85000"/>
            </a:schemeClr>
          </a:solidFill>
        </p:spPr>
        <p:txBody>
          <a:bodyPr/>
          <a:lstStyle/>
          <a:p>
            <a:endParaRPr lang="en-US"/>
          </a:p>
        </p:txBody>
      </p:sp>
      <p:sp>
        <p:nvSpPr>
          <p:cNvPr id="10" name="Text Placeholder 9">
            <a:extLst>
              <a:ext uri="{FF2B5EF4-FFF2-40B4-BE49-F238E27FC236}">
                <a16:creationId xmlns:a16="http://schemas.microsoft.com/office/drawing/2014/main" id="{B36654BE-A652-EA96-9C4B-5654EE38EEC1}"/>
              </a:ext>
            </a:extLst>
          </p:cNvPr>
          <p:cNvSpPr>
            <a:spLocks noGrp="1"/>
          </p:cNvSpPr>
          <p:nvPr>
            <p:ph type="body" sz="quarter" idx="13" hasCustomPrompt="1"/>
          </p:nvPr>
        </p:nvSpPr>
        <p:spPr>
          <a:xfrm>
            <a:off x="490538" y="4346575"/>
            <a:ext cx="3321174" cy="1225550"/>
          </a:xfrm>
        </p:spPr>
        <p:txBody>
          <a:bodyPr/>
          <a:lstStyle>
            <a:lvl1pPr marL="9525" indent="-9525">
              <a:buNone/>
              <a:tabLst/>
              <a:defRPr sz="2000"/>
            </a:lvl1pPr>
            <a:lvl2pPr marL="9525" indent="-9525">
              <a:buNone/>
              <a:tabLst/>
              <a:defRPr sz="2000"/>
            </a:lvl2pPr>
            <a:lvl3pPr marL="9525" indent="-9525">
              <a:buNone/>
              <a:tabLst/>
              <a:defRPr sz="2000"/>
            </a:lvl3pPr>
            <a:lvl4pPr marL="9525" indent="-9525">
              <a:buNone/>
              <a:tabLst/>
              <a:defRPr sz="2000"/>
            </a:lvl4pPr>
            <a:lvl5pPr marL="9525" indent="-9525">
              <a:buNone/>
              <a:tabLst/>
              <a:defRPr sz="2000"/>
            </a:lvl5pPr>
          </a:lstStyle>
          <a:p>
            <a:pPr lvl="0"/>
            <a:r>
              <a:rPr lang="en-US" dirty="0"/>
              <a:t>Lorem ipsum dolor sit amet, consectetuer adipiscing elit. Maecenas </a:t>
            </a:r>
            <a:r>
              <a:rPr lang="en-US" dirty="0" err="1"/>
              <a:t>porttitor</a:t>
            </a:r>
            <a:r>
              <a:rPr lang="en-US" dirty="0"/>
              <a:t> </a:t>
            </a:r>
            <a:r>
              <a:rPr lang="en-US" dirty="0" err="1"/>
              <a:t>congue</a:t>
            </a:r>
            <a:endParaRPr lang="en-US" dirty="0"/>
          </a:p>
        </p:txBody>
      </p:sp>
      <p:sp>
        <p:nvSpPr>
          <p:cNvPr id="11" name="Text Placeholder 9">
            <a:extLst>
              <a:ext uri="{FF2B5EF4-FFF2-40B4-BE49-F238E27FC236}">
                <a16:creationId xmlns:a16="http://schemas.microsoft.com/office/drawing/2014/main" id="{F0E8F210-ED7A-42FC-153F-7FB4542F93E4}"/>
              </a:ext>
            </a:extLst>
          </p:cNvPr>
          <p:cNvSpPr>
            <a:spLocks noGrp="1"/>
          </p:cNvSpPr>
          <p:nvPr>
            <p:ph type="body" sz="quarter" idx="14" hasCustomPrompt="1"/>
          </p:nvPr>
        </p:nvSpPr>
        <p:spPr>
          <a:xfrm>
            <a:off x="4322799" y="4346575"/>
            <a:ext cx="3321174" cy="1225550"/>
          </a:xfrm>
        </p:spPr>
        <p:txBody>
          <a:bodyPr/>
          <a:lstStyle>
            <a:lvl1pPr marL="9525" indent="-9525">
              <a:buNone/>
              <a:tabLst/>
              <a:defRPr sz="2000"/>
            </a:lvl1pPr>
            <a:lvl2pPr marL="9525" indent="-9525">
              <a:buNone/>
              <a:tabLst/>
              <a:defRPr sz="2000"/>
            </a:lvl2pPr>
            <a:lvl3pPr marL="9525" indent="-9525">
              <a:buNone/>
              <a:tabLst/>
              <a:defRPr sz="2000"/>
            </a:lvl3pPr>
            <a:lvl4pPr marL="9525" indent="-9525">
              <a:buNone/>
              <a:tabLst/>
              <a:defRPr sz="2000"/>
            </a:lvl4pPr>
            <a:lvl5pPr marL="9525" indent="-9525">
              <a:buNone/>
              <a:tabLst/>
              <a:defRPr sz="2000"/>
            </a:lvl5pPr>
          </a:lstStyle>
          <a:p>
            <a:pPr lvl="0"/>
            <a:r>
              <a:rPr lang="en-US" dirty="0"/>
              <a:t>Lorem ipsum dolor sit amet, consectetuer adipiscing elit. Maecenas </a:t>
            </a:r>
            <a:r>
              <a:rPr lang="en-US" dirty="0" err="1"/>
              <a:t>porttitor</a:t>
            </a:r>
            <a:r>
              <a:rPr lang="en-US" dirty="0"/>
              <a:t> </a:t>
            </a:r>
            <a:r>
              <a:rPr lang="en-US" dirty="0" err="1"/>
              <a:t>congue</a:t>
            </a:r>
            <a:endParaRPr lang="en-US" dirty="0"/>
          </a:p>
        </p:txBody>
      </p:sp>
      <p:sp>
        <p:nvSpPr>
          <p:cNvPr id="12" name="Text Placeholder 9">
            <a:extLst>
              <a:ext uri="{FF2B5EF4-FFF2-40B4-BE49-F238E27FC236}">
                <a16:creationId xmlns:a16="http://schemas.microsoft.com/office/drawing/2014/main" id="{BFC5AF15-335B-D159-89A8-60AC7CBF5317}"/>
              </a:ext>
            </a:extLst>
          </p:cNvPr>
          <p:cNvSpPr>
            <a:spLocks noGrp="1"/>
          </p:cNvSpPr>
          <p:nvPr>
            <p:ph type="body" sz="quarter" idx="15" hasCustomPrompt="1"/>
          </p:nvPr>
        </p:nvSpPr>
        <p:spPr>
          <a:xfrm>
            <a:off x="8155059" y="4346575"/>
            <a:ext cx="3321174" cy="1225550"/>
          </a:xfrm>
        </p:spPr>
        <p:txBody>
          <a:bodyPr/>
          <a:lstStyle>
            <a:lvl1pPr marL="9525" indent="-9525">
              <a:buNone/>
              <a:tabLst/>
              <a:defRPr sz="2000"/>
            </a:lvl1pPr>
            <a:lvl2pPr marL="9525" indent="-9525">
              <a:buNone/>
              <a:tabLst/>
              <a:defRPr sz="2000"/>
            </a:lvl2pPr>
            <a:lvl3pPr marL="9525" indent="-9525">
              <a:buNone/>
              <a:tabLst/>
              <a:defRPr sz="2000"/>
            </a:lvl3pPr>
            <a:lvl4pPr marL="9525" indent="-9525">
              <a:buNone/>
              <a:tabLst/>
              <a:defRPr sz="2000"/>
            </a:lvl4pPr>
            <a:lvl5pPr marL="9525" indent="-9525">
              <a:buNone/>
              <a:tabLst/>
              <a:defRPr sz="2000"/>
            </a:lvl5pPr>
          </a:lstStyle>
          <a:p>
            <a:pPr lvl="0"/>
            <a:r>
              <a:rPr lang="en-US" dirty="0"/>
              <a:t>Lorem ipsum dolor sit amet, consectetuer adipiscing elit. Maecenas </a:t>
            </a:r>
            <a:r>
              <a:rPr lang="en-US" dirty="0" err="1"/>
              <a:t>porttitor</a:t>
            </a:r>
            <a:r>
              <a:rPr lang="en-US" dirty="0"/>
              <a:t> </a:t>
            </a:r>
            <a:r>
              <a:rPr lang="en-US" dirty="0" err="1"/>
              <a:t>congue</a:t>
            </a:r>
            <a:endParaRPr lang="en-US" dirty="0"/>
          </a:p>
        </p:txBody>
      </p:sp>
      <p:pic>
        <p:nvPicPr>
          <p:cNvPr id="3" name="Picture 2" descr="A person standing in front of a black background&#10;&#10;AI-generated content may be incorrect.">
            <a:extLst>
              <a:ext uri="{FF2B5EF4-FFF2-40B4-BE49-F238E27FC236}">
                <a16:creationId xmlns:a16="http://schemas.microsoft.com/office/drawing/2014/main" id="{251C0F5F-3286-C730-7CFD-3A9657C6338A}"/>
              </a:ext>
            </a:extLst>
          </p:cNvPr>
          <p:cNvPicPr>
            <a:picLocks noChangeAspect="1"/>
          </p:cNvPicPr>
          <p:nvPr userDrawn="1"/>
        </p:nvPicPr>
        <p:blipFill>
          <a:blip r:embed="rId2"/>
          <a:stretch>
            <a:fillRect/>
          </a:stretch>
        </p:blipFill>
        <p:spPr>
          <a:xfrm>
            <a:off x="490019" y="5950781"/>
            <a:ext cx="1872037" cy="717198"/>
          </a:xfrm>
          <a:prstGeom prst="rect">
            <a:avLst/>
          </a:prstGeom>
        </p:spPr>
      </p:pic>
    </p:spTree>
    <p:extLst>
      <p:ext uri="{BB962C8B-B14F-4D97-AF65-F5344CB8AC3E}">
        <p14:creationId xmlns:p14="http://schemas.microsoft.com/office/powerpoint/2010/main" val="33082441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Image">
    <p:spTree>
      <p:nvGrpSpPr>
        <p:cNvPr id="1" name=""/>
        <p:cNvGrpSpPr/>
        <p:nvPr/>
      </p:nvGrpSpPr>
      <p:grpSpPr>
        <a:xfrm>
          <a:off x="0" y="0"/>
          <a:ext cx="0" cy="0"/>
          <a:chOff x="0" y="0"/>
          <a:chExt cx="0" cy="0"/>
        </a:xfrm>
      </p:grpSpPr>
      <p:pic>
        <p:nvPicPr>
          <p:cNvPr id="3" name="Picture 2" descr="A person standing in front of a black background&#10;&#10;AI-generated content may be incorrect.">
            <a:extLst>
              <a:ext uri="{FF2B5EF4-FFF2-40B4-BE49-F238E27FC236}">
                <a16:creationId xmlns:a16="http://schemas.microsoft.com/office/drawing/2014/main" id="{2A1B0E3B-CBB4-E674-936A-616C31472145}"/>
              </a:ext>
            </a:extLst>
          </p:cNvPr>
          <p:cNvPicPr>
            <a:picLocks noChangeAspect="1"/>
          </p:cNvPicPr>
          <p:nvPr userDrawn="1"/>
        </p:nvPicPr>
        <p:blipFill>
          <a:blip r:embed="rId2"/>
          <a:stretch>
            <a:fillRect/>
          </a:stretch>
        </p:blipFill>
        <p:spPr>
          <a:xfrm>
            <a:off x="490019" y="5950781"/>
            <a:ext cx="1872037" cy="717198"/>
          </a:xfrm>
          <a:prstGeom prst="rect">
            <a:avLst/>
          </a:prstGeom>
        </p:spPr>
      </p:pic>
    </p:spTree>
    <p:extLst>
      <p:ext uri="{BB962C8B-B14F-4D97-AF65-F5344CB8AC3E}">
        <p14:creationId xmlns:p14="http://schemas.microsoft.com/office/powerpoint/2010/main" val="19171464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lank Image">
    <p:spTree>
      <p:nvGrpSpPr>
        <p:cNvPr id="1" name=""/>
        <p:cNvGrpSpPr/>
        <p:nvPr/>
      </p:nvGrpSpPr>
      <p:grpSpPr>
        <a:xfrm>
          <a:off x="0" y="0"/>
          <a:ext cx="0" cy="0"/>
          <a:chOff x="0" y="0"/>
          <a:chExt cx="0" cy="0"/>
        </a:xfrm>
      </p:grpSpPr>
      <p:sp>
        <p:nvSpPr>
          <p:cNvPr id="6" name="Table Placeholder 5">
            <a:extLst>
              <a:ext uri="{FF2B5EF4-FFF2-40B4-BE49-F238E27FC236}">
                <a16:creationId xmlns:a16="http://schemas.microsoft.com/office/drawing/2014/main" id="{57E89B82-9448-D70A-2D25-DB4A33CA7450}"/>
              </a:ext>
            </a:extLst>
          </p:cNvPr>
          <p:cNvSpPr>
            <a:spLocks noGrp="1"/>
          </p:cNvSpPr>
          <p:nvPr>
            <p:ph type="tbl" sz="quarter" idx="10"/>
          </p:nvPr>
        </p:nvSpPr>
        <p:spPr>
          <a:xfrm>
            <a:off x="1061243" y="1500745"/>
            <a:ext cx="10069513" cy="4010025"/>
          </a:xfrm>
        </p:spPr>
        <p:txBody>
          <a:bodyPr/>
          <a:lstStyle/>
          <a:p>
            <a:endParaRPr lang="en-US" dirty="0"/>
          </a:p>
        </p:txBody>
      </p:sp>
      <p:sp>
        <p:nvSpPr>
          <p:cNvPr id="10" name="Text Placeholder 8">
            <a:extLst>
              <a:ext uri="{FF2B5EF4-FFF2-40B4-BE49-F238E27FC236}">
                <a16:creationId xmlns:a16="http://schemas.microsoft.com/office/drawing/2014/main" id="{490E73F1-F338-E722-E17F-FDC88F6C1B94}"/>
              </a:ext>
            </a:extLst>
          </p:cNvPr>
          <p:cNvSpPr>
            <a:spLocks noGrp="1"/>
          </p:cNvSpPr>
          <p:nvPr>
            <p:ph type="body" sz="quarter" idx="11" hasCustomPrompt="1"/>
          </p:nvPr>
        </p:nvSpPr>
        <p:spPr>
          <a:xfrm>
            <a:off x="1061243" y="571500"/>
            <a:ext cx="5839574" cy="737700"/>
          </a:xfrm>
        </p:spPr>
        <p:txBody>
          <a:bodyPr>
            <a:noAutofit/>
          </a:bodyPr>
          <a:lstStyle>
            <a:lvl1pPr marL="9525" indent="-9525">
              <a:buNone/>
              <a:tabLst/>
              <a:defRPr sz="3200" b="1" i="0">
                <a:solidFill>
                  <a:srgbClr val="AB3D3F"/>
                </a:solidFill>
                <a:latin typeface="Poppins" pitchFamily="2" charset="77"/>
                <a:cs typeface="Poppins" pitchFamily="2" charset="77"/>
              </a:defRPr>
            </a:lvl1pPr>
            <a:lvl2pPr marL="9525" indent="-9525">
              <a:buNone/>
              <a:tabLst/>
              <a:defRPr>
                <a:solidFill>
                  <a:srgbClr val="FEBA5A"/>
                </a:solidFill>
              </a:defRPr>
            </a:lvl2pPr>
            <a:lvl3pPr marL="9525" indent="-9525">
              <a:buNone/>
              <a:tabLst/>
              <a:defRPr>
                <a:solidFill>
                  <a:srgbClr val="FEBA5A"/>
                </a:solidFill>
              </a:defRPr>
            </a:lvl3pPr>
            <a:lvl4pPr marL="9525" indent="-9525">
              <a:buNone/>
              <a:tabLst/>
              <a:defRPr>
                <a:solidFill>
                  <a:srgbClr val="FEBA5A"/>
                </a:solidFill>
              </a:defRPr>
            </a:lvl4pPr>
            <a:lvl5pPr marL="9525" indent="-9525">
              <a:buNone/>
              <a:tabLst/>
              <a:defRPr>
                <a:solidFill>
                  <a:srgbClr val="FEBA5A"/>
                </a:solidFill>
              </a:defRPr>
            </a:lvl5pPr>
          </a:lstStyle>
          <a:p>
            <a:pPr lvl="0"/>
            <a:r>
              <a:rPr lang="en-US" dirty="0"/>
              <a:t>Table Title Goes Here</a:t>
            </a:r>
          </a:p>
        </p:txBody>
      </p:sp>
      <p:pic>
        <p:nvPicPr>
          <p:cNvPr id="3" name="Picture 2" descr="A person standing in front of a black background&#10;&#10;AI-generated content may be incorrect.">
            <a:extLst>
              <a:ext uri="{FF2B5EF4-FFF2-40B4-BE49-F238E27FC236}">
                <a16:creationId xmlns:a16="http://schemas.microsoft.com/office/drawing/2014/main" id="{D9970793-154C-FF6F-4959-1A421E9730A8}"/>
              </a:ext>
            </a:extLst>
          </p:cNvPr>
          <p:cNvPicPr>
            <a:picLocks noChangeAspect="1"/>
          </p:cNvPicPr>
          <p:nvPr userDrawn="1"/>
        </p:nvPicPr>
        <p:blipFill>
          <a:blip r:embed="rId2"/>
          <a:stretch>
            <a:fillRect/>
          </a:stretch>
        </p:blipFill>
        <p:spPr>
          <a:xfrm>
            <a:off x="490019" y="5950781"/>
            <a:ext cx="1872037" cy="717198"/>
          </a:xfrm>
          <a:prstGeom prst="rect">
            <a:avLst/>
          </a:prstGeom>
        </p:spPr>
      </p:pic>
    </p:spTree>
    <p:extLst>
      <p:ext uri="{BB962C8B-B14F-4D97-AF65-F5344CB8AC3E}">
        <p14:creationId xmlns:p14="http://schemas.microsoft.com/office/powerpoint/2010/main" val="29062556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902EB5-2D68-7C82-2B73-622445F073EF}"/>
              </a:ext>
            </a:extLst>
          </p:cNvPr>
          <p:cNvSpPr>
            <a:spLocks noGrp="1" noRot="1" noMove="1" noResize="1" noEditPoints="1" noAdjustHandles="1" noChangeArrowheads="1" noChangeShapeType="1"/>
          </p:cNvSpPr>
          <p:nvPr userDrawn="1"/>
        </p:nvSpPr>
        <p:spPr>
          <a:xfrm>
            <a:off x="0" y="0"/>
            <a:ext cx="12277618" cy="6858000"/>
          </a:xfrm>
          <a:prstGeom prst="rect">
            <a:avLst/>
          </a:prstGeom>
          <a:solidFill>
            <a:srgbClr val="AB3D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BFBB8DB6-0644-6D85-CE40-32DB5FC89436}"/>
              </a:ext>
            </a:extLst>
          </p:cNvPr>
          <p:cNvSpPr>
            <a:spLocks noGrp="1"/>
          </p:cNvSpPr>
          <p:nvPr>
            <p:ph type="ctrTitle" hasCustomPrompt="1"/>
          </p:nvPr>
        </p:nvSpPr>
        <p:spPr>
          <a:xfrm>
            <a:off x="1524000" y="2567352"/>
            <a:ext cx="9144000" cy="2387600"/>
          </a:xfrm>
        </p:spPr>
        <p:txBody>
          <a:bodyPr anchor="ctr">
            <a:normAutofit/>
          </a:bodyPr>
          <a:lstStyle>
            <a:lvl1pPr algn="ctr">
              <a:defRPr sz="7200" b="1">
                <a:solidFill>
                  <a:schemeClr val="bg1"/>
                </a:solidFill>
                <a:latin typeface="Poppins" pitchFamily="2" charset="77"/>
                <a:cs typeface="Poppins" pitchFamily="2" charset="77"/>
              </a:defRPr>
            </a:lvl1pPr>
          </a:lstStyle>
          <a:p>
            <a:r>
              <a:rPr lang="en-US" dirty="0"/>
              <a:t>Thank You</a:t>
            </a:r>
          </a:p>
        </p:txBody>
      </p:sp>
      <p:pic>
        <p:nvPicPr>
          <p:cNvPr id="3" name="Picture 2" descr="A logo on a black background&#10;&#10;AI-generated content may be incorrect.">
            <a:extLst>
              <a:ext uri="{FF2B5EF4-FFF2-40B4-BE49-F238E27FC236}">
                <a16:creationId xmlns:a16="http://schemas.microsoft.com/office/drawing/2014/main" id="{B7D2CF73-6B55-FE59-781B-E23748870E77}"/>
              </a:ext>
            </a:extLst>
          </p:cNvPr>
          <p:cNvPicPr>
            <a:picLocks noChangeAspect="1"/>
          </p:cNvPicPr>
          <p:nvPr userDrawn="1"/>
        </p:nvPicPr>
        <p:blipFill>
          <a:blip r:embed="rId2"/>
          <a:stretch>
            <a:fillRect/>
          </a:stretch>
        </p:blipFill>
        <p:spPr>
          <a:xfrm>
            <a:off x="4998464" y="612116"/>
            <a:ext cx="2280690" cy="1763222"/>
          </a:xfrm>
          <a:prstGeom prst="rect">
            <a:avLst/>
          </a:prstGeom>
        </p:spPr>
      </p:pic>
    </p:spTree>
    <p:extLst>
      <p:ext uri="{BB962C8B-B14F-4D97-AF65-F5344CB8AC3E}">
        <p14:creationId xmlns:p14="http://schemas.microsoft.com/office/powerpoint/2010/main" val="8773219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05699-92A5-EB03-A586-D694772C26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0DCB07-5550-B2DC-9B59-357D44D12E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A1CA2F-0E68-75F8-D4DA-0DEA79DFB0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B04F34-8FD2-3341-B014-12F06072F6DE}" type="datetimeFigureOut">
              <a:rPr lang="en-US" smtClean="0"/>
              <a:t>2/3/26</a:t>
            </a:fld>
            <a:endParaRPr lang="en-US"/>
          </a:p>
        </p:txBody>
      </p:sp>
      <p:sp>
        <p:nvSpPr>
          <p:cNvPr id="5" name="Footer Placeholder 4">
            <a:extLst>
              <a:ext uri="{FF2B5EF4-FFF2-40B4-BE49-F238E27FC236}">
                <a16:creationId xmlns:a16="http://schemas.microsoft.com/office/drawing/2014/main" id="{0A67ED29-C1D1-ECD5-F311-2A4049F520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61219D1-0A90-0688-51B4-795893344C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815B29-94FF-B045-94DC-8D21B6115E05}" type="slidenum">
              <a:rPr lang="en-US" smtClean="0"/>
              <a:t>‹#›</a:t>
            </a:fld>
            <a:endParaRPr lang="en-US"/>
          </a:p>
        </p:txBody>
      </p:sp>
    </p:spTree>
    <p:extLst>
      <p:ext uri="{BB962C8B-B14F-4D97-AF65-F5344CB8AC3E}">
        <p14:creationId xmlns:p14="http://schemas.microsoft.com/office/powerpoint/2010/main" val="25740113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1" r:id="rId4"/>
    <p:sldLayoutId id="2147483652" r:id="rId5"/>
    <p:sldLayoutId id="2147483653" r:id="rId6"/>
    <p:sldLayoutId id="2147483656" r:id="rId7"/>
    <p:sldLayoutId id="2147483657" r:id="rId8"/>
    <p:sldLayoutId id="2147483655"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5400"/>
              <a:t>Building and adapting language models</a:t>
            </a:r>
          </a:p>
        </p:txBody>
      </p:sp>
      <p:sp>
        <p:nvSpPr>
          <p:cNvPr id="3" name="Subtitle 2"/>
          <p:cNvSpPr>
            <a:spLocks noGrp="1"/>
          </p:cNvSpPr>
          <p:nvPr>
            <p:ph type="subTitle" idx="1"/>
          </p:nvPr>
        </p:nvSpPr>
        <p:spPr/>
        <p:txBody>
          <a:bodyPr/>
          <a:lstStyle/>
          <a:p>
            <a:pPr algn="ctr">
              <a:spcAft>
                <a:spcPts val="1000"/>
              </a:spcAft>
            </a:pPr>
            <a:r>
              <a:rPr sz="2200" b="0" i="0">
                <a:solidFill>
                  <a:srgbClr val="FEBA5A"/>
                </a:solidFill>
                <a:latin typeface="Candara"/>
              </a:rPr>
              <a:t>An Ewe n-gram model and an agricultural English model for Ankora</a:t>
            </a:r>
          </a:p>
          <a:p>
            <a:pPr algn="ctr">
              <a:spcAft>
                <a:spcPts val="600"/>
              </a:spcAft>
            </a:pPr>
            <a:r>
              <a:rPr sz="1600" b="0" i="0">
                <a:solidFill>
                  <a:srgbClr val="FFFFFF"/>
                </a:solidFill>
                <a:latin typeface="Candara"/>
              </a:rPr>
              <a:t>ICS554 Natural Language Processing · MICS 2028 · Group 1 · Ashesi University · September 2026</a:t>
            </a:r>
          </a:p>
          <a:p>
            <a:pPr algn="ctr">
              <a:spcAft>
                <a:spcPts val="600"/>
              </a:spcAft>
            </a:pPr>
            <a:r>
              <a:rPr sz="1600" b="0" i="0">
                <a:solidFill>
                  <a:srgbClr val="FFFFFF"/>
                </a:solidFill>
                <a:latin typeface="Candara"/>
              </a:rPr>
              <a:t>github.com/ASU-MICS-2028/nlp-group-1-prosit-1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571500" y="571500"/>
            <a:ext cx="11055096" cy="737700"/>
          </a:xfrm>
        </p:spPr>
        <p:txBody>
          <a:bodyPr/>
          <a:lstStyle/>
          <a:p>
            <a:r>
              <a:t>Three models, kept apart</a:t>
            </a:r>
          </a:p>
        </p:txBody>
      </p:sp>
      <p:sp>
        <p:nvSpPr>
          <p:cNvPr id="3" name="TextBox 2"/>
          <p:cNvSpPr txBox="1"/>
          <p:nvPr/>
        </p:nvSpPr>
        <p:spPr>
          <a:xfrm>
            <a:off x="566928" y="1417320"/>
            <a:ext cx="11055096" cy="457200"/>
          </a:xfrm>
          <a:prstGeom prst="rect">
            <a:avLst/>
          </a:prstGeom>
          <a:noFill/>
        </p:spPr>
        <p:txBody>
          <a:bodyPr wrap="square" anchor="t" lIns="0" rIns="0" tIns="0" bIns="0">
            <a:spAutoFit/>
          </a:bodyPr>
          <a:lstStyle/>
          <a:p>
            <a:pPr algn="l">
              <a:spcAft>
                <a:spcPts val="600"/>
              </a:spcAft>
            </a:pPr>
            <a:r>
              <a:rPr sz="1800" b="0" i="0">
                <a:solidFill>
                  <a:srgbClr val="262626"/>
                </a:solidFill>
                <a:latin typeface="Candara"/>
              </a:rPr>
              <a:t>Two deliverables, plus one baseline to test a claim the brief makes.</a:t>
            </a:r>
          </a:p>
        </p:txBody>
      </p:sp>
      <p:sp>
        <p:nvSpPr>
          <p:cNvPr id="4" name="Rounded Rectangle 3"/>
          <p:cNvSpPr/>
          <p:nvPr/>
        </p:nvSpPr>
        <p:spPr>
          <a:xfrm>
            <a:off x="566928" y="2011680"/>
            <a:ext cx="3502152" cy="274320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l">
              <a:spcAft>
                <a:spcPts val="200"/>
              </a:spcAft>
            </a:pPr>
            <a:r>
              <a:rPr sz="2600" b="1" i="0">
                <a:solidFill>
                  <a:srgbClr val="AB3D3F"/>
                </a:solidFill>
                <a:latin typeface="Candara"/>
              </a:rPr>
              <a:t>N-gram</a:t>
            </a:r>
          </a:p>
          <a:p>
            <a:pPr algn="l">
              <a:spcAft>
                <a:spcPts val="1000"/>
              </a:spcAft>
            </a:pPr>
            <a:r>
              <a:rPr sz="1600" b="1" i="0">
                <a:solidFill>
                  <a:srgbClr val="262626"/>
                </a:solidFill>
                <a:latin typeface="Candara"/>
              </a:rPr>
              <a:t>Section B</a:t>
            </a:r>
          </a:p>
          <a:p>
            <a:pPr algn="l">
              <a:spcAft>
                <a:spcPts val="800"/>
              </a:spcAft>
            </a:pPr>
            <a:r>
              <a:rPr sz="1500" b="0" i="0">
                <a:solidFill>
                  <a:srgbClr val="262626"/>
                </a:solidFill>
                <a:latin typeface="Candara"/>
              </a:rPr>
              <a:t>Ewe · 123,511 sentences</a:t>
            </a:r>
          </a:p>
          <a:p>
            <a:pPr algn="l">
              <a:spcAft>
                <a:spcPts val="1200"/>
              </a:spcAft>
            </a:pPr>
            <a:r>
              <a:rPr sz="1400" b="0" i="0">
                <a:solidFill>
                  <a:srgbClr val="595959"/>
                </a:solidFill>
                <a:latin typeface="Candara"/>
              </a:rPr>
              <a:t>Counts plus Kneser-Ney smoothing. No neural network.</a:t>
            </a:r>
          </a:p>
          <a:p>
            <a:pPr algn="l">
              <a:spcAft>
                <a:spcPts val="600"/>
              </a:spcAft>
            </a:pPr>
            <a:r>
              <a:rPr sz="1500" b="1" i="0">
                <a:solidFill>
                  <a:srgbClr val="AB3D3F"/>
                </a:solidFill>
                <a:latin typeface="Candara"/>
              </a:rPr>
              <a:t>Best: 189.1 perplexity per word (BPE subwords)</a:t>
            </a:r>
          </a:p>
        </p:txBody>
      </p:sp>
      <p:sp>
        <p:nvSpPr>
          <p:cNvPr id="5" name="Rounded Rectangle 4"/>
          <p:cNvSpPr/>
          <p:nvPr/>
        </p:nvSpPr>
        <p:spPr>
          <a:xfrm>
            <a:off x="4343400" y="2011680"/>
            <a:ext cx="3502152" cy="274320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l">
              <a:spcAft>
                <a:spcPts val="200"/>
              </a:spcAft>
            </a:pPr>
            <a:r>
              <a:rPr sz="2600" b="1" i="0">
                <a:solidFill>
                  <a:srgbClr val="AB3D3F"/>
                </a:solidFill>
                <a:latin typeface="Candara"/>
              </a:rPr>
              <a:t>LSTM baseline</a:t>
            </a:r>
          </a:p>
          <a:p>
            <a:pPr algn="l">
              <a:spcAft>
                <a:spcPts val="1000"/>
              </a:spcAft>
            </a:pPr>
            <a:r>
              <a:rPr sz="1600" b="1" i="0">
                <a:solidFill>
                  <a:srgbClr val="262626"/>
                </a:solidFill>
                <a:latin typeface="Candara"/>
              </a:rPr>
              <a:t>Section B, Question 2</a:t>
            </a:r>
          </a:p>
          <a:p>
            <a:pPr algn="l">
              <a:spcAft>
                <a:spcPts val="800"/>
              </a:spcAft>
            </a:pPr>
            <a:r>
              <a:rPr sz="1500" b="0" i="0">
                <a:solidFill>
                  <a:srgbClr val="262626"/>
                </a:solidFill>
                <a:latin typeface="Candara"/>
              </a:rPr>
              <a:t>The same Ewe sentences and tokens</a:t>
            </a:r>
          </a:p>
          <a:p>
            <a:pPr algn="l">
              <a:spcAft>
                <a:spcPts val="1200"/>
              </a:spcAft>
            </a:pPr>
            <a:r>
              <a:rPr sz="1400" b="0" i="0">
                <a:solidFill>
                  <a:srgbClr val="595959"/>
                </a:solidFill>
                <a:latin typeface="Candara"/>
              </a:rPr>
              <a:t>A small network trained from scratch, to test whether n-grams beat neural models on little data.</a:t>
            </a:r>
          </a:p>
          <a:p>
            <a:pPr algn="l">
              <a:spcAft>
                <a:spcPts val="600"/>
              </a:spcAft>
            </a:pPr>
            <a:r>
              <a:rPr sz="1500" b="1" i="0">
                <a:solidFill>
                  <a:srgbClr val="AB3D3F"/>
                </a:solidFill>
                <a:latin typeface="Candara"/>
              </a:rPr>
              <a:t>Loses on 420 sentences, wins on 98,808</a:t>
            </a:r>
          </a:p>
        </p:txBody>
      </p:sp>
      <p:sp>
        <p:nvSpPr>
          <p:cNvPr id="6" name="Rounded Rectangle 5"/>
          <p:cNvSpPr/>
          <p:nvPr/>
        </p:nvSpPr>
        <p:spPr>
          <a:xfrm>
            <a:off x="8119871" y="2011680"/>
            <a:ext cx="3502152" cy="274320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l">
              <a:spcAft>
                <a:spcPts val="200"/>
              </a:spcAft>
            </a:pPr>
            <a:r>
              <a:rPr sz="2600" b="1" i="0">
                <a:solidFill>
                  <a:srgbClr val="AB3D3F"/>
                </a:solidFill>
                <a:latin typeface="Candara"/>
              </a:rPr>
              <a:t>distilgpt2 + LoRA</a:t>
            </a:r>
          </a:p>
          <a:p>
            <a:pPr algn="l">
              <a:spcAft>
                <a:spcPts val="1000"/>
              </a:spcAft>
            </a:pPr>
            <a:r>
              <a:rPr sz="1600" b="1" i="0">
                <a:solidFill>
                  <a:srgbClr val="262626"/>
                </a:solidFill>
                <a:latin typeface="Candara"/>
              </a:rPr>
              <a:t>Section C</a:t>
            </a:r>
          </a:p>
          <a:p>
            <a:pPr algn="l">
              <a:spcAft>
                <a:spcPts val="800"/>
              </a:spcAft>
            </a:pPr>
            <a:r>
              <a:rPr sz="1500" b="0" i="0">
                <a:solidFill>
                  <a:srgbClr val="262626"/>
                </a:solidFill>
                <a:latin typeface="Candara"/>
              </a:rPr>
              <a:t>English · 2,212 farming questions</a:t>
            </a:r>
          </a:p>
          <a:p>
            <a:pPr algn="l">
              <a:spcAft>
                <a:spcPts val="1200"/>
              </a:spcAft>
            </a:pPr>
            <a:r>
              <a:rPr sz="1400" b="0" i="0">
                <a:solidFill>
                  <a:srgbClr val="595959"/>
                </a:solidFill>
                <a:latin typeface="Candara"/>
              </a:rPr>
              <a:t>A pretrained model; LoRA trains 0.18% of its weights.</a:t>
            </a:r>
          </a:p>
          <a:p>
            <a:pPr algn="l">
              <a:spcAft>
                <a:spcPts val="600"/>
              </a:spcAft>
            </a:pPr>
            <a:r>
              <a:rPr sz="1500" b="1" i="0">
                <a:solidFill>
                  <a:srgbClr val="AB3D3F"/>
                </a:solidFill>
                <a:latin typeface="Candara"/>
              </a:rPr>
              <a:t>Answer perplexity 37.77 → 30.00</a:t>
            </a:r>
          </a:p>
        </p:txBody>
      </p:sp>
      <p:sp>
        <p:nvSpPr>
          <p:cNvPr id="7" name="TextBox 6"/>
          <p:cNvSpPr txBox="1"/>
          <p:nvPr/>
        </p:nvSpPr>
        <p:spPr>
          <a:xfrm>
            <a:off x="566928" y="4983480"/>
            <a:ext cx="11055096" cy="731520"/>
          </a:xfrm>
          <a:prstGeom prst="rect">
            <a:avLst/>
          </a:prstGeom>
          <a:noFill/>
        </p:spPr>
        <p:txBody>
          <a:bodyPr wrap="square" anchor="t" lIns="0" rIns="0" tIns="0" bIns="0">
            <a:spAutoFit/>
          </a:bodyPr>
          <a:lstStyle/>
          <a:p>
            <a:pPr algn="l">
              <a:spcAft>
                <a:spcPts val="600"/>
              </a:spcAft>
            </a:pPr>
            <a:r>
              <a:rPr sz="1600" b="1" i="0">
                <a:solidFill>
                  <a:srgbClr val="AB3D3F"/>
                </a:solidFill>
                <a:latin typeface="Candara"/>
              </a:rPr>
              <a:t>The LSTM and the LLM are unrelated: </a:t>
            </a:r>
            <a:r>
              <a:rPr sz="1600" b="0" i="0">
                <a:solidFill>
                  <a:srgbClr val="262626"/>
                </a:solidFill>
                <a:latin typeface="Candara"/>
              </a:rPr>
              <a:t>different language, data and model. Perplexities compare within Section B, never across sections.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571500" y="571500"/>
            <a:ext cx="11055096" cy="737700"/>
          </a:xfrm>
        </p:spPr>
        <p:txBody>
          <a:bodyPr/>
          <a:lstStyle/>
          <a:p>
            <a:r>
              <a:t>Section B: the Ewe corpus</a:t>
            </a:r>
          </a:p>
        </p:txBody>
      </p:sp>
      <p:sp>
        <p:nvSpPr>
          <p:cNvPr id="3" name="Rounded Rectangle 2"/>
          <p:cNvSpPr/>
          <p:nvPr/>
        </p:nvSpPr>
        <p:spPr>
          <a:xfrm>
            <a:off x="566928" y="1417320"/>
            <a:ext cx="5394960" cy="132588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0934" bIns="160934"/>
          <a:lstStyle/>
          <a:p>
            <a:pPr algn="l">
              <a:spcAft>
                <a:spcPts val="0"/>
              </a:spcAft>
            </a:pPr>
            <a:r>
              <a:rPr sz="3000" b="1" i="0">
                <a:solidFill>
                  <a:srgbClr val="AB3D3F"/>
                </a:solidFill>
                <a:latin typeface="Candara"/>
              </a:rPr>
              <a:t>123,511</a:t>
            </a:r>
          </a:p>
          <a:p>
            <a:pPr algn="l">
              <a:spcAft>
                <a:spcPts val="200"/>
              </a:spcAft>
            </a:pPr>
            <a:r>
              <a:rPr sz="1500" b="1" i="0">
                <a:solidFill>
                  <a:srgbClr val="262626"/>
                </a:solidFill>
                <a:latin typeface="Candara"/>
              </a:rPr>
              <a:t>sentences from four sources</a:t>
            </a:r>
          </a:p>
          <a:p>
            <a:pPr algn="l">
              <a:spcAft>
                <a:spcPts val="600"/>
              </a:spcAft>
            </a:pPr>
            <a:r>
              <a:rPr sz="1200" b="0" i="0">
                <a:solidFill>
                  <a:srgbClr val="595959"/>
                </a:solidFill>
                <a:latin typeface="Candara"/>
              </a:rPr>
              <a:t>Deduplicated within and across sources, then split 80/10/10 with seed 42</a:t>
            </a:r>
          </a:p>
        </p:txBody>
      </p:sp>
      <p:sp>
        <p:nvSpPr>
          <p:cNvPr id="4" name="Rounded Rectangle 3"/>
          <p:cNvSpPr/>
          <p:nvPr/>
        </p:nvSpPr>
        <p:spPr>
          <a:xfrm>
            <a:off x="566928" y="2880360"/>
            <a:ext cx="5394960" cy="132588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0934" bIns="160934"/>
          <a:lstStyle/>
          <a:p>
            <a:pPr algn="l">
              <a:spcAft>
                <a:spcPts val="0"/>
              </a:spcAft>
            </a:pPr>
            <a:r>
              <a:rPr sz="3000" b="1" i="0">
                <a:solidFill>
                  <a:srgbClr val="AB3D3F"/>
                </a:solidFill>
                <a:latin typeface="Candara"/>
              </a:rPr>
              <a:t>1,874,130</a:t>
            </a:r>
          </a:p>
          <a:p>
            <a:pPr algn="l">
              <a:spcAft>
                <a:spcPts val="200"/>
              </a:spcAft>
            </a:pPr>
            <a:r>
              <a:rPr sz="1500" b="1" i="0">
                <a:solidFill>
                  <a:srgbClr val="262626"/>
                </a:solidFill>
                <a:latin typeface="Candara"/>
              </a:rPr>
              <a:t>training words</a:t>
            </a:r>
          </a:p>
          <a:p>
            <a:pPr algn="l">
              <a:spcAft>
                <a:spcPts val="600"/>
              </a:spcAft>
            </a:pPr>
            <a:r>
              <a:rPr sz="1200" b="0" i="0">
                <a:solidFill>
                  <a:srgbClr val="595959"/>
                </a:solidFill>
                <a:latin typeface="Candara"/>
              </a:rPr>
              <a:t>98,808 training sentences</a:t>
            </a:r>
          </a:p>
        </p:txBody>
      </p:sp>
      <p:sp>
        <p:nvSpPr>
          <p:cNvPr id="5" name="Rounded Rectangle 4"/>
          <p:cNvSpPr/>
          <p:nvPr/>
        </p:nvSpPr>
        <p:spPr>
          <a:xfrm>
            <a:off x="566928" y="4343400"/>
            <a:ext cx="5394960" cy="132588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0934" bIns="160934"/>
          <a:lstStyle/>
          <a:p>
            <a:pPr algn="l">
              <a:spcAft>
                <a:spcPts val="0"/>
              </a:spcAft>
            </a:pPr>
            <a:r>
              <a:rPr sz="3000" b="1" i="0">
                <a:solidFill>
                  <a:srgbClr val="AB3D3F"/>
                </a:solidFill>
                <a:latin typeface="Candara"/>
              </a:rPr>
              <a:t>5.1%</a:t>
            </a:r>
          </a:p>
          <a:p>
            <a:pPr algn="l">
              <a:spcAft>
                <a:spcPts val="200"/>
              </a:spcAft>
            </a:pPr>
            <a:r>
              <a:rPr sz="1500" b="1" i="0">
                <a:solidFill>
                  <a:srgbClr val="262626"/>
                </a:solidFill>
                <a:latin typeface="Candara"/>
              </a:rPr>
              <a:t>of sentences mention Yehowa</a:t>
            </a:r>
          </a:p>
          <a:p>
            <a:pPr algn="l">
              <a:spcAft>
                <a:spcPts val="600"/>
              </a:spcAft>
            </a:pPr>
            <a:r>
              <a:rPr sz="1200" b="0" i="0">
                <a:solidFill>
                  <a:srgbClr val="595959"/>
                </a:solidFill>
                <a:latin typeface="Candara"/>
              </a:rPr>
              <a:t>A large share is Bible and Jehovah's Witnesses text, and the model leans that way</a:t>
            </a:r>
          </a:p>
        </p:txBody>
      </p:sp>
      <p:sp>
        <p:nvSpPr>
          <p:cNvPr id="6" name="Rounded Rectangle 5"/>
          <p:cNvSpPr/>
          <p:nvPr/>
        </p:nvSpPr>
        <p:spPr>
          <a:xfrm>
            <a:off x="6227064" y="1417320"/>
            <a:ext cx="5394960" cy="425196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l">
              <a:spcAft>
                <a:spcPts val="1000"/>
              </a:spcAft>
            </a:pPr>
            <a:r>
              <a:rPr sz="1800" b="1" i="0">
                <a:solidFill>
                  <a:srgbClr val="AB3D3F"/>
                </a:solidFill>
                <a:latin typeface="Candara"/>
              </a:rPr>
              <a:t>Getting the letters right</a:t>
            </a:r>
          </a:p>
          <a:p>
            <a:pPr algn="l" marL="219456" indent="-219456">
              <a:spcAft>
                <a:spcPts val="800"/>
              </a:spcAft>
              <a:buClr>
                <a:srgbClr val="AB3D3F"/>
              </a:buClr>
              <a:buFont typeface="Arial"/>
              <a:buChar char="•"/>
            </a:pPr>
            <a:r>
              <a:rPr sz="1400" b="0" i="0">
                <a:solidFill>
                  <a:srgbClr val="262626"/>
                </a:solidFill>
                <a:latin typeface="Candara"/>
              </a:rPr>
              <a:t>Sources: sentence pairs, dictionary examples, spoken image descriptions (University of Ghana, Waxal) and a large aligned corpus.</a:t>
            </a:r>
          </a:p>
          <a:p>
            <a:pPr algn="l" marL="219456" indent="-219456">
              <a:spcAft>
                <a:spcPts val="800"/>
              </a:spcAft>
              <a:buClr>
                <a:srgbClr val="AB3D3F"/>
              </a:buClr>
              <a:buFont typeface="Arial"/>
              <a:buChar char="•"/>
            </a:pPr>
            <a:r>
              <a:rPr sz="1400" b="0" i="0">
                <a:solidFill>
                  <a:srgbClr val="262626"/>
                </a:solidFill>
                <a:latin typeface="Candara"/>
              </a:rPr>
              <a:t>Unicode NFC, so each letter and tone mark is stored one way. The nasal vowel </a:t>
            </a:r>
            <a:r>
              <a:rPr sz="1400" b="0" i="0">
                <a:solidFill>
                  <a:srgbClr val="262626"/>
                </a:solidFill>
                <a:latin typeface="Arial"/>
              </a:rPr>
              <a:t>ɔ̃</a:t>
            </a:r>
            <a:r>
              <a:rPr sz="1400" b="0" i="0">
                <a:solidFill>
                  <a:srgbClr val="262626"/>
                </a:solidFill>
                <a:latin typeface="Candara"/>
              </a:rPr>
              <a:t> has no single Unicode character, so our tokenizers accept combining marks.</a:t>
            </a:r>
          </a:p>
          <a:p>
            <a:pPr algn="l" marL="219456" indent="-219456">
              <a:spcAft>
                <a:spcPts val="800"/>
              </a:spcAft>
              <a:buClr>
                <a:srgbClr val="AB3D3F"/>
              </a:buClr>
              <a:buFont typeface="Arial"/>
              <a:buChar char="•"/>
            </a:pPr>
            <a:r>
              <a:rPr sz="1400" b="0" i="0">
                <a:solidFill>
                  <a:srgbClr val="262626"/>
                </a:solidFill>
                <a:latin typeface="Candara"/>
              </a:rPr>
              <a:t>Capital eth </a:t>
            </a:r>
            <a:r>
              <a:rPr sz="1400" b="0" i="0">
                <a:solidFill>
                  <a:srgbClr val="262626"/>
                </a:solidFill>
                <a:latin typeface="Candara"/>
              </a:rPr>
              <a:t>Ð</a:t>
            </a:r>
            <a:r>
              <a:rPr sz="1400" b="0" i="0">
                <a:solidFill>
                  <a:srgbClr val="262626"/>
                </a:solidFill>
                <a:latin typeface="Candara"/>
              </a:rPr>
              <a:t> typed for </a:t>
            </a:r>
            <a:r>
              <a:rPr sz="1400" b="0" i="0">
                <a:solidFill>
                  <a:srgbClr val="262626"/>
                </a:solidFill>
                <a:latin typeface="Arial"/>
              </a:rPr>
              <a:t>Ɖ</a:t>
            </a:r>
            <a:r>
              <a:rPr sz="1400" b="0" i="0">
                <a:solidFill>
                  <a:srgbClr val="262626"/>
                </a:solidFill>
                <a:latin typeface="Candara"/>
              </a:rPr>
              <a:t> had split </a:t>
            </a:r>
            <a:r>
              <a:rPr sz="1400" b="0" i="0">
                <a:solidFill>
                  <a:srgbClr val="262626"/>
                </a:solidFill>
                <a:latin typeface="Arial"/>
              </a:rPr>
              <a:t>ɖe</a:t>
            </a:r>
            <a:r>
              <a:rPr sz="1400" b="0" i="0">
                <a:solidFill>
                  <a:srgbClr val="262626"/>
                </a:solidFill>
                <a:latin typeface="Candara"/>
              </a:rPr>
              <a:t> into two words; the cleaner maps lookalikes back.</a:t>
            </a:r>
          </a:p>
          <a:p>
            <a:pPr algn="l" marL="219456" indent="-219456">
              <a:spcAft>
                <a:spcPts val="600"/>
              </a:spcAft>
              <a:buClr>
                <a:srgbClr val="AB3D3F"/>
              </a:buClr>
              <a:buFont typeface="Arial"/>
              <a:buChar char="•"/>
            </a:pPr>
            <a:r>
              <a:rPr sz="1400" b="0" i="0">
                <a:solidFill>
                  <a:srgbClr val="262626"/>
                </a:solidFill>
                <a:latin typeface="Candara"/>
              </a:rPr>
              <a:t>Vocabulary from the training split only; words seen once become &lt;unk&gt;.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571500" y="571500"/>
            <a:ext cx="11055096" cy="737700"/>
          </a:xfrm>
        </p:spPr>
        <p:txBody>
          <a:bodyPr/>
          <a:lstStyle/>
          <a:p>
            <a:r>
              <a:t>Longer context helps, up to about four words</a:t>
            </a:r>
          </a:p>
        </p:txBody>
      </p:sp>
      <p:sp>
        <p:nvSpPr>
          <p:cNvPr id="3" name="TextBox 2"/>
          <p:cNvSpPr txBox="1"/>
          <p:nvPr/>
        </p:nvSpPr>
        <p:spPr>
          <a:xfrm>
            <a:off x="566928" y="1371600"/>
            <a:ext cx="5852160" cy="548640"/>
          </a:xfrm>
          <a:prstGeom prst="rect">
            <a:avLst/>
          </a:prstGeom>
          <a:noFill/>
        </p:spPr>
        <p:txBody>
          <a:bodyPr wrap="square" anchor="t" lIns="0" rIns="0" tIns="0" bIns="0">
            <a:spAutoFit/>
          </a:bodyPr>
          <a:lstStyle/>
          <a:p>
            <a:pPr algn="l">
              <a:spcAft>
                <a:spcPts val="600"/>
              </a:spcAft>
            </a:pPr>
            <a:r>
              <a:rPr sz="1400" b="1" i="0">
                <a:solidFill>
                  <a:srgbClr val="262626"/>
                </a:solidFill>
                <a:latin typeface="Candara"/>
              </a:rPr>
              <a:t>Test perplexity by n-gram order</a:t>
            </a:r>
            <a:r>
              <a:rPr sz="1400" b="0" i="0">
                <a:solidFill>
                  <a:srgbClr val="262626"/>
                </a:solidFill>
                <a:latin typeface="Candara"/>
              </a:rPr>
              <a:t> (Unicode Word tokens, Kneser-Ney; lower is better)</a:t>
            </a:r>
          </a:p>
        </p:txBody>
      </p:sp>
      <p:graphicFrame>
        <p:nvGraphicFramePr>
          <p:cNvPr id="4" name="Chart 3"/>
          <p:cNvGraphicFramePr>
            <a:graphicFrameLocks noGrp="1"/>
          </p:cNvGraphicFramePr>
          <p:nvPr/>
        </p:nvGraphicFramePr>
        <p:xfrm>
          <a:off x="566928" y="1828800"/>
          <a:ext cx="5852160" cy="3840480"/>
        </p:xfrm>
        <a:graphic>
          <a:graphicData uri="http://schemas.openxmlformats.org/drawingml/2006/chart">
            <c:chart xmlns:c="http://schemas.openxmlformats.org/drawingml/2006/chart" r:id="rId2"/>
          </a:graphicData>
        </a:graphic>
      </p:graphicFrame>
      <p:sp>
        <p:nvSpPr>
          <p:cNvPr id="5" name="Rounded Rectangle 4"/>
          <p:cNvSpPr/>
          <p:nvPr/>
        </p:nvSpPr>
        <p:spPr>
          <a:xfrm>
            <a:off x="6702552" y="1417320"/>
            <a:ext cx="4919472" cy="425196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l">
              <a:spcAft>
                <a:spcPts val="1000"/>
              </a:spcAft>
            </a:pPr>
            <a:r>
              <a:rPr sz="1800" b="1" i="0">
                <a:solidFill>
                  <a:srgbClr val="AB3D3F"/>
                </a:solidFill>
                <a:latin typeface="Candara"/>
              </a:rPr>
              <a:t>Why smoothing decides this</a:t>
            </a:r>
          </a:p>
          <a:p>
            <a:pPr algn="l" marL="219456" indent="-219456">
              <a:spcAft>
                <a:spcPts val="800"/>
              </a:spcAft>
              <a:buClr>
                <a:srgbClr val="AB3D3F"/>
              </a:buClr>
              <a:buFont typeface="Arial"/>
              <a:buChar char="•"/>
            </a:pPr>
            <a:r>
              <a:rPr sz="1400" b="0" i="0">
                <a:solidFill>
                  <a:srgbClr val="262626"/>
                </a:solidFill>
                <a:latin typeface="Candara"/>
              </a:rPr>
              <a:t>10.5% of test bigrams and 80.5% of test 6-grams never occur in training; maximum likelihood gives them probability 0.</a:t>
            </a:r>
          </a:p>
          <a:p>
            <a:pPr algn="l" marL="219456" indent="-219456">
              <a:spcAft>
                <a:spcPts val="800"/>
              </a:spcAft>
              <a:buClr>
                <a:srgbClr val="AB3D3F"/>
              </a:buClr>
              <a:buFont typeface="Arial"/>
              <a:buChar char="•"/>
            </a:pPr>
            <a:r>
              <a:rPr sz="1400" b="0" i="0">
                <a:solidFill>
                  <a:srgbClr val="262626"/>
                </a:solidFill>
                <a:latin typeface="Candara"/>
              </a:rPr>
              <a:t>Kneser-Ney hands an unseen long context's probability down to shorter contexts, so perplexity levels off instead of rising.</a:t>
            </a:r>
          </a:p>
          <a:p>
            <a:pPr algn="l" marL="219456" indent="-219456">
              <a:spcAft>
                <a:spcPts val="800"/>
              </a:spcAft>
              <a:buClr>
                <a:srgbClr val="AB3D3F"/>
              </a:buClr>
              <a:buFont typeface="Arial"/>
              <a:buChar char="•"/>
            </a:pPr>
            <a:r>
              <a:rPr sz="1400" b="0" i="0">
                <a:solidFill>
                  <a:srgbClr val="262626"/>
                </a:solidFill>
                <a:latin typeface="Candara"/>
              </a:rPr>
              <a:t>It beats equal-weight interpolation at every N ≥ 2 (77.7 against 93.6 at N = 3).</a:t>
            </a:r>
          </a:p>
          <a:p>
            <a:pPr algn="l" marL="219456" indent="-219456">
              <a:spcAft>
                <a:spcPts val="600"/>
              </a:spcAft>
              <a:buClr>
                <a:srgbClr val="AB3D3F"/>
              </a:buClr>
              <a:buFont typeface="Arial"/>
              <a:buChar char="•"/>
            </a:pPr>
            <a:r>
              <a:rPr sz="1400" b="0" i="0">
                <a:solidFill>
                  <a:srgbClr val="262626"/>
                </a:solidFill>
                <a:latin typeface="Candara"/>
              </a:rPr>
              <a:t>N is chosen on validation: N = 4, 5 and 6 are within 2% of each other.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571500" y="571500"/>
            <a:ext cx="11055096" cy="737700"/>
          </a:xfrm>
        </p:spPr>
        <p:txBody>
          <a:bodyPr/>
          <a:lstStyle/>
          <a:p>
            <a:r>
              <a:t>Which unit to count: five tokenizers</a:t>
            </a:r>
          </a:p>
        </p:txBody>
      </p:sp>
      <p:sp>
        <p:nvSpPr>
          <p:cNvPr id="3" name="TextBox 2"/>
          <p:cNvSpPr txBox="1"/>
          <p:nvPr/>
        </p:nvSpPr>
        <p:spPr>
          <a:xfrm>
            <a:off x="566928" y="1371600"/>
            <a:ext cx="5852160" cy="548640"/>
          </a:xfrm>
          <a:prstGeom prst="rect">
            <a:avLst/>
          </a:prstGeom>
          <a:noFill/>
        </p:spPr>
        <p:txBody>
          <a:bodyPr wrap="square" anchor="t" lIns="0" rIns="0" tIns="0" bIns="0">
            <a:spAutoFit/>
          </a:bodyPr>
          <a:lstStyle/>
          <a:p>
            <a:pPr algn="l">
              <a:spcAft>
                <a:spcPts val="600"/>
              </a:spcAft>
            </a:pPr>
            <a:r>
              <a:rPr sz="1400" b="1" i="0">
                <a:solidFill>
                  <a:srgbClr val="262626"/>
                </a:solidFill>
                <a:latin typeface="Candara"/>
              </a:rPr>
              <a:t>Test perplexity per word</a:t>
            </a:r>
            <a:r>
              <a:rPr sz="1400" b="0" i="0">
                <a:solidFill>
                  <a:srgbClr val="262626"/>
                </a:solidFill>
                <a:latin typeface="Candara"/>
              </a:rPr>
              <a:t> (best N per tokenizer; lower is better)</a:t>
            </a:r>
          </a:p>
        </p:txBody>
      </p:sp>
      <p:graphicFrame>
        <p:nvGraphicFramePr>
          <p:cNvPr id="4" name="Chart 3"/>
          <p:cNvGraphicFramePr>
            <a:graphicFrameLocks noGrp="1"/>
          </p:cNvGraphicFramePr>
          <p:nvPr/>
        </p:nvGraphicFramePr>
        <p:xfrm>
          <a:off x="566928" y="1828800"/>
          <a:ext cx="5852160" cy="3840480"/>
        </p:xfrm>
        <a:graphic>
          <a:graphicData uri="http://schemas.openxmlformats.org/drawingml/2006/chart">
            <c:chart xmlns:c="http://schemas.openxmlformats.org/drawingml/2006/chart" r:id="rId2"/>
          </a:graphicData>
        </a:graphic>
      </p:graphicFrame>
      <p:sp>
        <p:nvSpPr>
          <p:cNvPr id="5" name="Rounded Rectangle 4"/>
          <p:cNvSpPr/>
          <p:nvPr/>
        </p:nvSpPr>
        <p:spPr>
          <a:xfrm>
            <a:off x="6702552" y="1417320"/>
            <a:ext cx="4919472" cy="425196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l">
              <a:spcAft>
                <a:spcPts val="1000"/>
              </a:spcAft>
            </a:pPr>
            <a:r>
              <a:rPr sz="1800" b="1" i="0">
                <a:solidFill>
                  <a:srgbClr val="AB3D3F"/>
                </a:solidFill>
                <a:latin typeface="Candara"/>
              </a:rPr>
              <a:t>Compare per word, not per token</a:t>
            </a:r>
          </a:p>
          <a:p>
            <a:pPr algn="l" marL="219456" indent="-219456">
              <a:spcAft>
                <a:spcPts val="800"/>
              </a:spcAft>
              <a:buClr>
                <a:srgbClr val="AB3D3F"/>
              </a:buClr>
              <a:buFont typeface="Arial"/>
              <a:buChar char="•"/>
            </a:pPr>
            <a:r>
              <a:rPr sz="1400" b="0" i="0">
                <a:solidFill>
                  <a:srgbClr val="262626"/>
                </a:solidFill>
                <a:latin typeface="Candara"/>
              </a:rPr>
              <a:t>Per token, characters look best (3.7): a character model chooses among 227 symbols, a word model among 26,489. Only per word do all five score the same text.</a:t>
            </a:r>
          </a:p>
          <a:p>
            <a:pPr algn="l" marL="219456" indent="-219456">
              <a:spcAft>
                <a:spcPts val="800"/>
              </a:spcAft>
              <a:buClr>
                <a:srgbClr val="AB3D3F"/>
              </a:buClr>
              <a:buFont typeface="Arial"/>
              <a:buChar char="•"/>
            </a:pPr>
            <a:r>
              <a:rPr sz="1400" b="0" i="0">
                <a:solidFill>
                  <a:srgbClr val="262626"/>
                </a:solidFill>
                <a:latin typeface="Candara"/>
              </a:rPr>
              <a:t>Each &lt;unk&gt; also pays to spell its word, or the tokenizer with the most unknown words looks best.</a:t>
            </a:r>
          </a:p>
          <a:p>
            <a:pPr algn="l" marL="219456" indent="-219456">
              <a:spcAft>
                <a:spcPts val="800"/>
              </a:spcAft>
              <a:buClr>
                <a:srgbClr val="AB3D3F"/>
              </a:buClr>
              <a:buFont typeface="Arial"/>
              <a:buChar char="•"/>
            </a:pPr>
            <a:r>
              <a:rPr sz="1400" b="0" i="0">
                <a:solidFill>
                  <a:srgbClr val="262626"/>
                </a:solidFill>
                <a:latin typeface="Candara"/>
              </a:rPr>
              <a:t>Keeping Ewe affixes as tokens beats plain words by 2.6%; attaching punctuation to words costs 29%.</a:t>
            </a:r>
          </a:p>
          <a:p>
            <a:pPr algn="l" marL="219456" indent="-219456">
              <a:spcAft>
                <a:spcPts val="600"/>
              </a:spcAft>
              <a:buClr>
                <a:srgbClr val="AB3D3F"/>
              </a:buClr>
              <a:buFont typeface="Arial"/>
              <a:buChar char="•"/>
            </a:pPr>
            <a:r>
              <a:rPr sz="1400" b="0" i="0">
                <a:solidFill>
                  <a:srgbClr val="262626"/>
                </a:solidFill>
                <a:latin typeface="Candara"/>
              </a:rPr>
              <a:t>The same ranking holds on each of the four source datasets.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571500" y="571500"/>
            <a:ext cx="11055096" cy="737700"/>
          </a:xfrm>
        </p:spPr>
        <p:txBody>
          <a:bodyPr/>
          <a:lstStyle/>
          <a:p>
            <a:r>
              <a:rPr sz="3000"/>
              <a:t>Question 2: are n-grams better than neural models?</a:t>
            </a:r>
          </a:p>
        </p:txBody>
      </p:sp>
      <p:sp>
        <p:nvSpPr>
          <p:cNvPr id="3" name="TextBox 2"/>
          <p:cNvSpPr txBox="1"/>
          <p:nvPr/>
        </p:nvSpPr>
        <p:spPr>
          <a:xfrm>
            <a:off x="566928" y="1371600"/>
            <a:ext cx="5394960" cy="365760"/>
          </a:xfrm>
          <a:prstGeom prst="rect">
            <a:avLst/>
          </a:prstGeom>
          <a:noFill/>
        </p:spPr>
        <p:txBody>
          <a:bodyPr wrap="square" anchor="t" lIns="0" rIns="0" tIns="0" bIns="0">
            <a:spAutoFit/>
          </a:bodyPr>
          <a:lstStyle/>
          <a:p>
            <a:pPr algn="l">
              <a:spcAft>
                <a:spcPts val="600"/>
              </a:spcAft>
            </a:pPr>
            <a:r>
              <a:rPr sz="1500" b="1" i="0">
                <a:solidFill>
                  <a:srgbClr val="262626"/>
                </a:solidFill>
                <a:latin typeface="Candara"/>
              </a:rPr>
              <a:t>420 training sentences</a:t>
            </a:r>
            <a:r>
              <a:rPr sz="1500" b="0" i="0">
                <a:solidFill>
                  <a:srgbClr val="262626"/>
                </a:solidFill>
                <a:latin typeface="Candara"/>
              </a:rPr>
              <a:t> (9,642 words)</a:t>
            </a:r>
          </a:p>
        </p:txBody>
      </p:sp>
      <p:graphicFrame>
        <p:nvGraphicFramePr>
          <p:cNvPr id="4" name="Chart 3"/>
          <p:cNvGraphicFramePr>
            <a:graphicFrameLocks noGrp="1"/>
          </p:cNvGraphicFramePr>
          <p:nvPr/>
        </p:nvGraphicFramePr>
        <p:xfrm>
          <a:off x="566928" y="1783080"/>
          <a:ext cx="5394960" cy="2514600"/>
        </p:xfrm>
        <a:graphic>
          <a:graphicData uri="http://schemas.openxmlformats.org/drawingml/2006/chart">
            <c:chart xmlns:c="http://schemas.openxmlformats.org/drawingml/2006/chart" r:id="rId2"/>
          </a:graphicData>
        </a:graphic>
      </p:graphicFrame>
      <p:sp>
        <p:nvSpPr>
          <p:cNvPr id="5" name="TextBox 4"/>
          <p:cNvSpPr txBox="1"/>
          <p:nvPr/>
        </p:nvSpPr>
        <p:spPr>
          <a:xfrm>
            <a:off x="566928" y="4343400"/>
            <a:ext cx="5394960" cy="640080"/>
          </a:xfrm>
          <a:prstGeom prst="rect">
            <a:avLst/>
          </a:prstGeom>
          <a:noFill/>
        </p:spPr>
        <p:txBody>
          <a:bodyPr wrap="square" anchor="t" lIns="0" rIns="0" tIns="0" bIns="0">
            <a:spAutoFit/>
          </a:bodyPr>
          <a:lstStyle/>
          <a:p>
            <a:pPr algn="l">
              <a:spcAft>
                <a:spcPts val="600"/>
              </a:spcAft>
            </a:pPr>
            <a:r>
              <a:rPr sz="1400" b="0" i="0">
                <a:solidFill>
                  <a:srgbClr val="262626"/>
                </a:solidFill>
                <a:latin typeface="Candara"/>
              </a:rPr>
              <a:t>n-gram 26% lower. About 50 LSTM weights per training word is more than the data can pin down.</a:t>
            </a:r>
          </a:p>
        </p:txBody>
      </p:sp>
      <p:sp>
        <p:nvSpPr>
          <p:cNvPr id="6" name="TextBox 5"/>
          <p:cNvSpPr txBox="1"/>
          <p:nvPr/>
        </p:nvSpPr>
        <p:spPr>
          <a:xfrm>
            <a:off x="6227064" y="1371600"/>
            <a:ext cx="5394960" cy="365760"/>
          </a:xfrm>
          <a:prstGeom prst="rect">
            <a:avLst/>
          </a:prstGeom>
          <a:noFill/>
        </p:spPr>
        <p:txBody>
          <a:bodyPr wrap="square" anchor="t" lIns="0" rIns="0" tIns="0" bIns="0">
            <a:spAutoFit/>
          </a:bodyPr>
          <a:lstStyle/>
          <a:p>
            <a:pPr algn="l">
              <a:spcAft>
                <a:spcPts val="600"/>
              </a:spcAft>
            </a:pPr>
            <a:r>
              <a:rPr sz="1500" b="1" i="0">
                <a:solidFill>
                  <a:srgbClr val="262626"/>
                </a:solidFill>
                <a:latin typeface="Candara"/>
              </a:rPr>
              <a:t>98,808 training sentences</a:t>
            </a:r>
            <a:r>
              <a:rPr sz="1500" b="0" i="0">
                <a:solidFill>
                  <a:srgbClr val="262626"/>
                </a:solidFill>
                <a:latin typeface="Candara"/>
              </a:rPr>
              <a:t> (1,874,130 words)</a:t>
            </a:r>
          </a:p>
        </p:txBody>
      </p:sp>
      <p:graphicFrame>
        <p:nvGraphicFramePr>
          <p:cNvPr id="7" name="Chart 6"/>
          <p:cNvGraphicFramePr>
            <a:graphicFrameLocks noGrp="1"/>
          </p:cNvGraphicFramePr>
          <p:nvPr/>
        </p:nvGraphicFramePr>
        <p:xfrm>
          <a:off x="6227064" y="1783080"/>
          <a:ext cx="5394960" cy="2514600"/>
        </p:xfrm>
        <a:graphic>
          <a:graphicData uri="http://schemas.openxmlformats.org/drawingml/2006/chart">
            <c:chart xmlns:c="http://schemas.openxmlformats.org/drawingml/2006/chart" r:id="rId3"/>
          </a:graphicData>
        </a:graphic>
      </p:graphicFrame>
      <p:sp>
        <p:nvSpPr>
          <p:cNvPr id="8" name="TextBox 7"/>
          <p:cNvSpPr txBox="1"/>
          <p:nvPr/>
        </p:nvSpPr>
        <p:spPr>
          <a:xfrm>
            <a:off x="6227064" y="4343400"/>
            <a:ext cx="5394960" cy="640080"/>
          </a:xfrm>
          <a:prstGeom prst="rect">
            <a:avLst/>
          </a:prstGeom>
          <a:noFill/>
        </p:spPr>
        <p:txBody>
          <a:bodyPr wrap="square" anchor="t" lIns="0" rIns="0" tIns="0" bIns="0">
            <a:spAutoFit/>
          </a:bodyPr>
          <a:lstStyle/>
          <a:p>
            <a:pPr algn="l">
              <a:spcAft>
                <a:spcPts val="600"/>
              </a:spcAft>
            </a:pPr>
            <a:r>
              <a:rPr sz="1400" b="0" i="0">
                <a:solidFill>
                  <a:srgbClr val="262626"/>
                </a:solidFill>
                <a:latin typeface="Candara"/>
              </a:rPr>
              <a:t>LSTM 12% lower, and still improving when our 10-epoch budget ran out.</a:t>
            </a:r>
          </a:p>
        </p:txBody>
      </p:sp>
      <p:sp>
        <p:nvSpPr>
          <p:cNvPr id="9" name="Rounded Rectangle 8"/>
          <p:cNvSpPr/>
          <p:nvPr/>
        </p:nvSpPr>
        <p:spPr>
          <a:xfrm>
            <a:off x="566928" y="5029200"/>
            <a:ext cx="11055096" cy="73152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31673" bIns="131673"/>
          <a:lstStyle/>
          <a:p>
            <a:pPr algn="l">
              <a:spcAft>
                <a:spcPts val="600"/>
              </a:spcAft>
            </a:pPr>
            <a:r>
              <a:rPr sz="1400" b="1" i="0">
                <a:solidFill>
                  <a:srgbClr val="AB3D3F"/>
                </a:solidFill>
                <a:latin typeface="Candara"/>
              </a:rPr>
              <a:t>Our answer: </a:t>
            </a:r>
            <a:r>
              <a:rPr sz="1400" b="0" i="0">
                <a:solidFill>
                  <a:srgbClr val="262626"/>
                </a:solidFill>
                <a:latin typeface="Candara"/>
              </a:rPr>
              <a:t>n-grams for very small data or tight compute; a neural model once there is enough text. Same BPE tokens and test sentences; every seed lands on the same side. Each large LSTM took 2.4 to 3.1 hours on a CPU, all six n-gram orders about 7 minutes.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571500" y="571500"/>
            <a:ext cx="11055096" cy="737700"/>
          </a:xfrm>
        </p:spPr>
        <p:txBody>
          <a:bodyPr/>
          <a:lstStyle/>
          <a:p>
            <a:r>
              <a:rPr sz="3000"/>
              <a:t>Section C: adapting distilgpt2 to farming questions</a:t>
            </a:r>
          </a:p>
        </p:txBody>
      </p:sp>
      <p:sp>
        <p:nvSpPr>
          <p:cNvPr id="3" name="Rounded Rectangle 2"/>
          <p:cNvSpPr/>
          <p:nvPr/>
        </p:nvSpPr>
        <p:spPr>
          <a:xfrm>
            <a:off x="566928" y="1417320"/>
            <a:ext cx="3502152" cy="425196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l">
              <a:spcAft>
                <a:spcPts val="1000"/>
              </a:spcAft>
            </a:pPr>
            <a:r>
              <a:rPr sz="1800" b="1" i="0">
                <a:solidFill>
                  <a:srgbClr val="AB3D3F"/>
                </a:solidFill>
                <a:latin typeface="Candara"/>
              </a:rPr>
              <a:t>The data</a:t>
            </a:r>
          </a:p>
          <a:p>
            <a:pPr algn="l">
              <a:spcAft>
                <a:spcPts val="800"/>
              </a:spcAft>
            </a:pPr>
            <a:r>
              <a:rPr sz="1500" b="1" i="0">
                <a:solidFill>
                  <a:srgbClr val="262626"/>
                </a:solidFill>
                <a:latin typeface="Candara"/>
              </a:rPr>
              <a:t>22,615 rows, but only 2,212 distinct questions.</a:t>
            </a:r>
          </a:p>
          <a:p>
            <a:pPr algn="l" marL="219456" indent="-219456">
              <a:spcAft>
                <a:spcPts val="800"/>
              </a:spcAft>
              <a:buClr>
                <a:srgbClr val="AB3D3F"/>
              </a:buClr>
              <a:buFont typeface="Arial"/>
              <a:buChar char="•"/>
            </a:pPr>
            <a:r>
              <a:rPr sz="1500" b="0" i="0">
                <a:solidFill>
                  <a:srgbClr val="262626"/>
                </a:solidFill>
                <a:latin typeface="Candara"/>
              </a:rPr>
              <a:t>One row per question, kept before splitting: 1,769 / 221 / 222.</a:t>
            </a:r>
          </a:p>
          <a:p>
            <a:pPr algn="l" marL="219456" indent="-219456">
              <a:spcAft>
                <a:spcPts val="800"/>
              </a:spcAft>
              <a:buClr>
                <a:srgbClr val="AB3D3F"/>
              </a:buClr>
              <a:buFont typeface="Arial"/>
              <a:buChar char="•"/>
            </a:pPr>
            <a:r>
              <a:rPr sz="1500" b="0" i="0">
                <a:solidFill>
                  <a:srgbClr val="262626"/>
                </a:solidFill>
                <a:latin typeface="Candara"/>
              </a:rPr>
              <a:t>0 test questions appear in training or validation.</a:t>
            </a:r>
          </a:p>
          <a:p>
            <a:pPr algn="l" marL="219456" indent="-219456">
              <a:spcAft>
                <a:spcPts val="600"/>
              </a:spcAft>
              <a:buClr>
                <a:srgbClr val="AB3D3F"/>
              </a:buClr>
              <a:buFont typeface="Arial"/>
              <a:buChar char="•"/>
            </a:pPr>
            <a:r>
              <a:rPr sz="1500" b="0" i="0">
                <a:solidFill>
                  <a:srgbClr val="262626"/>
                </a:solidFill>
                <a:latin typeface="Candara"/>
              </a:rPr>
              <a:t>Trained on the first 500 pairs, a CPU budget.</a:t>
            </a:r>
          </a:p>
        </p:txBody>
      </p:sp>
      <p:sp>
        <p:nvSpPr>
          <p:cNvPr id="4" name="Rounded Rectangle 3"/>
          <p:cNvSpPr/>
          <p:nvPr/>
        </p:nvSpPr>
        <p:spPr>
          <a:xfrm>
            <a:off x="4343400" y="1417320"/>
            <a:ext cx="3502152" cy="425196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l">
              <a:spcAft>
                <a:spcPts val="1000"/>
              </a:spcAft>
            </a:pPr>
            <a:r>
              <a:rPr sz="1800" b="1" i="0">
                <a:solidFill>
                  <a:srgbClr val="AB3D3F"/>
                </a:solidFill>
                <a:latin typeface="Candara"/>
              </a:rPr>
              <a:t>Why LoRA</a:t>
            </a:r>
          </a:p>
          <a:p>
            <a:pPr algn="l" marL="219456" indent="-219456">
              <a:spcAft>
                <a:spcPts val="800"/>
              </a:spcAft>
              <a:buClr>
                <a:srgbClr val="AB3D3F"/>
              </a:buClr>
              <a:buFont typeface="Arial"/>
              <a:buChar char="•"/>
            </a:pPr>
            <a:r>
              <a:rPr sz="1500" b="1" i="0">
                <a:solidFill>
                  <a:srgbClr val="262626"/>
                </a:solidFill>
                <a:latin typeface="Candara"/>
              </a:rPr>
              <a:t>From scratch: </a:t>
            </a:r>
            <a:r>
              <a:rPr sz="1500" b="0" i="0">
                <a:solidFill>
                  <a:srgbClr val="262626"/>
                </a:solidFill>
                <a:latin typeface="Candara"/>
              </a:rPr>
              <a:t>2,212 pairs cannot teach a model English.</a:t>
            </a:r>
          </a:p>
          <a:p>
            <a:pPr algn="l" marL="219456" indent="-219456">
              <a:spcAft>
                <a:spcPts val="800"/>
              </a:spcAft>
              <a:buClr>
                <a:srgbClr val="AB3D3F"/>
              </a:buClr>
              <a:buFont typeface="Arial"/>
              <a:buChar char="•"/>
            </a:pPr>
            <a:r>
              <a:rPr sz="1500" b="1" i="0">
                <a:solidFill>
                  <a:srgbClr val="262626"/>
                </a:solidFill>
                <a:latin typeface="Candara"/>
              </a:rPr>
              <a:t>RAG: </a:t>
            </a:r>
            <a:r>
              <a:rPr sz="1500" b="0" i="0">
                <a:solidFill>
                  <a:srgbClr val="262626"/>
                </a:solidFill>
                <a:latin typeface="Candara"/>
              </a:rPr>
              <a:t>looks facts up but leaves the model's probabilities unchanged, and scoring transcripts needs those probabilities.</a:t>
            </a:r>
          </a:p>
          <a:p>
            <a:pPr algn="l" marL="219456" indent="-219456">
              <a:spcAft>
                <a:spcPts val="600"/>
              </a:spcAft>
              <a:buClr>
                <a:srgbClr val="AB3D3F"/>
              </a:buClr>
              <a:buFont typeface="Arial"/>
              <a:buChar char="•"/>
            </a:pPr>
            <a:r>
              <a:rPr sz="1500" b="1" i="0">
                <a:solidFill>
                  <a:srgbClr val="262626"/>
                </a:solidFill>
                <a:latin typeface="Candara"/>
              </a:rPr>
              <a:t>LoRA: </a:t>
            </a:r>
            <a:r>
              <a:rPr sz="1500" b="0" i="0">
                <a:solidFill>
                  <a:srgbClr val="262626"/>
                </a:solidFill>
                <a:latin typeface="Candara"/>
              </a:rPr>
              <a:t>freezes the pretrained weights and learns a small low-rank update.</a:t>
            </a:r>
          </a:p>
        </p:txBody>
      </p:sp>
      <p:sp>
        <p:nvSpPr>
          <p:cNvPr id="5" name="Rounded Rectangle 4"/>
          <p:cNvSpPr/>
          <p:nvPr/>
        </p:nvSpPr>
        <p:spPr>
          <a:xfrm>
            <a:off x="8119872" y="1417320"/>
            <a:ext cx="3502152" cy="425196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l">
              <a:spcAft>
                <a:spcPts val="600"/>
              </a:spcAft>
            </a:pPr>
            <a:r>
              <a:rPr sz="1800" b="1" i="0">
                <a:solidFill>
                  <a:srgbClr val="AB3D3F"/>
                </a:solidFill>
                <a:latin typeface="Candara"/>
              </a:rPr>
              <a:t>The setup</a:t>
            </a:r>
          </a:p>
          <a:p>
            <a:pPr algn="l">
              <a:spcAft>
                <a:spcPts val="0"/>
              </a:spcAft>
            </a:pPr>
            <a:r>
              <a:rPr sz="3400" b="1" i="0">
                <a:solidFill>
                  <a:srgbClr val="AB3D3F"/>
                </a:solidFill>
                <a:latin typeface="Candara"/>
              </a:rPr>
              <a:t>147,456</a:t>
            </a:r>
          </a:p>
          <a:p>
            <a:pPr algn="l">
              <a:spcAft>
                <a:spcPts val="1000"/>
              </a:spcAft>
            </a:pPr>
            <a:r>
              <a:rPr sz="1300" b="0" i="0">
                <a:solidFill>
                  <a:srgbClr val="595959"/>
                </a:solidFill>
                <a:latin typeface="Candara"/>
              </a:rPr>
              <a:t>trainable weights, 0.18% of 82,060,032</a:t>
            </a:r>
          </a:p>
          <a:p>
            <a:pPr algn="l" marL="219456" indent="-219456">
              <a:spcAft>
                <a:spcPts val="800"/>
              </a:spcAft>
              <a:buClr>
                <a:srgbClr val="AB3D3F"/>
              </a:buClr>
              <a:buFont typeface="Arial"/>
              <a:buChar char="•"/>
            </a:pPr>
            <a:r>
              <a:rPr sz="1500" b="0" i="0">
                <a:solidFill>
                  <a:srgbClr val="262626"/>
                </a:solidFill>
                <a:latin typeface="Candara"/>
              </a:rPr>
              <a:t>Rank 8, α = 32, on c_attn, the fused query, key and value projection.</a:t>
            </a:r>
          </a:p>
          <a:p>
            <a:pPr algn="l" marL="219456" indent="-219456">
              <a:spcAft>
                <a:spcPts val="600"/>
              </a:spcAft>
              <a:buClr>
                <a:srgbClr val="AB3D3F"/>
              </a:buClr>
              <a:buFont typeface="Arial"/>
              <a:buChar char="•"/>
            </a:pPr>
            <a:r>
              <a:rPr sz="1500" b="0" i="0">
                <a:solidFill>
                  <a:srgbClr val="262626"/>
                </a:solidFill>
                <a:latin typeface="Candara"/>
              </a:rPr>
              <a:t>Two objectives on identical data: loss on every token (standard), or on answer tokens only (masked).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1" sz="quarter"/>
          </p:nvPr>
        </p:nvSpPr>
        <p:spPr>
          <a:xfrm>
            <a:off x="1061243" y="571500"/>
            <a:ext cx="10067544" cy="737700"/>
          </a:xfrm>
        </p:spPr>
        <p:txBody>
          <a:bodyPr/>
          <a:lstStyle/>
          <a:p>
            <a:r>
              <a:rPr sz="3000"/>
              <a:t>Results on 222 held-out questions</a:t>
            </a:r>
          </a:p>
        </p:txBody>
      </p:sp>
      <p:graphicFrame>
        <p:nvGraphicFramePr>
          <p:cNvPr id="4" name="Table 3"/>
          <p:cNvGraphicFramePr>
            <a:graphicFrameLocks noGrp="1"/>
          </p:cNvGraphicFramePr>
          <p:nvPr/>
        </p:nvGraphicFramePr>
        <p:xfrm>
          <a:off x="1060704" y="1417320"/>
          <a:ext cx="10067544" cy="1691640"/>
        </p:xfrm>
        <a:graphic>
          <a:graphicData uri="http://schemas.openxmlformats.org/drawingml/2006/table">
            <a:tbl>
              <a:tblPr firstRow="1">
                <a:tableStyleId>{5C22544A-7EE6-4342-B048-85BDC9FD1C3A}</a:tableStyleId>
              </a:tblPr>
              <a:tblGrid>
                <a:gridCol w="3291840"/>
                <a:gridCol w="2011680"/>
                <a:gridCol w="2103120"/>
                <a:gridCol w="2660904"/>
              </a:tblGrid>
              <a:tr h="457200">
                <a:tc>
                  <a:txBody>
                    <a:bodyPr/>
                    <a:lstStyle/>
                    <a:p>
                      <a:pPr algn="l">
                        <a:spcAft>
                          <a:spcPts val="0"/>
                        </a:spcAft>
                      </a:pPr>
                      <a:r>
                        <a:rPr sz="1500" b="1" i="0">
                          <a:solidFill>
                            <a:srgbClr val="FFFFFF"/>
                          </a:solidFill>
                          <a:latin typeface="Candara"/>
                        </a:rPr>
                        <a:t>Perplexity (lower is better)</a:t>
                      </a:r>
                    </a:p>
                  </a:txBody>
                  <a:tcPr marL="91440" marR="91440" marT="36576" marB="36576" anchor="ctr">
                    <a:solidFill>
                      <a:srgbClr val="AB3D3F"/>
                    </a:solidFill>
                  </a:tcPr>
                </a:tc>
                <a:tc>
                  <a:txBody>
                    <a:bodyPr/>
                    <a:lstStyle/>
                    <a:p>
                      <a:pPr algn="r">
                        <a:spcAft>
                          <a:spcPts val="0"/>
                        </a:spcAft>
                      </a:pPr>
                      <a:r>
                        <a:rPr sz="1500" b="1" i="0">
                          <a:solidFill>
                            <a:srgbClr val="FFFFFF"/>
                          </a:solidFill>
                          <a:latin typeface="Candara"/>
                        </a:rPr>
                        <a:t>Full Q&amp;A text</a:t>
                      </a:r>
                    </a:p>
                  </a:txBody>
                  <a:tcPr marL="91440" marR="91440" marT="36576" marB="36576" anchor="ctr">
                    <a:solidFill>
                      <a:srgbClr val="AB3D3F"/>
                    </a:solidFill>
                  </a:tcPr>
                </a:tc>
                <a:tc>
                  <a:txBody>
                    <a:bodyPr/>
                    <a:lstStyle/>
                    <a:p>
                      <a:pPr algn="r">
                        <a:spcAft>
                          <a:spcPts val="0"/>
                        </a:spcAft>
                      </a:pPr>
                      <a:r>
                        <a:rPr sz="1500" b="1" i="0">
                          <a:solidFill>
                            <a:srgbClr val="FFFFFF"/>
                          </a:solidFill>
                          <a:latin typeface="Candara"/>
                        </a:rPr>
                        <a:t>Answer tokens only</a:t>
                      </a:r>
                    </a:p>
                  </a:txBody>
                  <a:tcPr marL="91440" marR="91440" marT="36576" marB="36576" anchor="ctr">
                    <a:solidFill>
                      <a:srgbClr val="AB3D3F"/>
                    </a:solidFill>
                  </a:tcPr>
                </a:tc>
                <a:tc>
                  <a:txBody>
                    <a:bodyPr/>
                    <a:lstStyle/>
                    <a:p>
                      <a:pPr algn="r">
                        <a:spcAft>
                          <a:spcPts val="0"/>
                        </a:spcAft>
                      </a:pPr>
                      <a:r>
                        <a:rPr sz="1500" b="1" i="0">
                          <a:solidFill>
                            <a:srgbClr val="FFFFFF"/>
                          </a:solidFill>
                          <a:latin typeface="Candara"/>
                        </a:rPr>
                        <a:t>General English (WikiText-2)</a:t>
                      </a:r>
                    </a:p>
                  </a:txBody>
                  <a:tcPr marL="91440" marR="91440" marT="36576" marB="36576" anchor="ctr">
                    <a:solidFill>
                      <a:srgbClr val="AB3D3F"/>
                    </a:solidFill>
                  </a:tcPr>
                </a:tc>
              </a:tr>
              <a:tr h="411480">
                <a:tc>
                  <a:txBody>
                    <a:bodyPr/>
                    <a:lstStyle/>
                    <a:p>
                      <a:pPr algn="l">
                        <a:spcAft>
                          <a:spcPts val="0"/>
                        </a:spcAft>
                      </a:pPr>
                      <a:r>
                        <a:rPr sz="1400" b="1" i="0">
                          <a:solidFill>
                            <a:srgbClr val="262626"/>
                          </a:solidFill>
                          <a:latin typeface="Candara"/>
                        </a:rPr>
                        <a:t>distilgpt2 base</a:t>
                      </a:r>
                    </a:p>
                  </a:txBody>
                  <a:tcPr marL="91440" marR="91440" marT="36576" marB="36576" anchor="ctr">
                    <a:solidFill>
                      <a:srgbClr val="FFFFFF"/>
                    </a:solidFill>
                  </a:tcPr>
                </a:tc>
                <a:tc>
                  <a:txBody>
                    <a:bodyPr/>
                    <a:lstStyle/>
                    <a:p>
                      <a:pPr algn="r">
                        <a:spcAft>
                          <a:spcPts val="0"/>
                        </a:spcAft>
                      </a:pPr>
                      <a:r>
                        <a:rPr sz="1400" b="0" i="0">
                          <a:solidFill>
                            <a:srgbClr val="262626"/>
                          </a:solidFill>
                          <a:latin typeface="Candara"/>
                        </a:rPr>
                        <a:t>56.08</a:t>
                      </a:r>
                    </a:p>
                  </a:txBody>
                  <a:tcPr marL="91440" marR="91440" marT="36576" marB="36576" anchor="ctr">
                    <a:solidFill>
                      <a:srgbClr val="FFFFFF"/>
                    </a:solidFill>
                  </a:tcPr>
                </a:tc>
                <a:tc>
                  <a:txBody>
                    <a:bodyPr/>
                    <a:lstStyle/>
                    <a:p>
                      <a:pPr algn="r">
                        <a:spcAft>
                          <a:spcPts val="0"/>
                        </a:spcAft>
                      </a:pPr>
                      <a:r>
                        <a:rPr sz="1400" b="0" i="0">
                          <a:solidFill>
                            <a:srgbClr val="262626"/>
                          </a:solidFill>
                          <a:latin typeface="Candara"/>
                        </a:rPr>
                        <a:t>37.77</a:t>
                      </a:r>
                    </a:p>
                  </a:txBody>
                  <a:tcPr marL="91440" marR="91440" marT="36576" marB="36576" anchor="ctr">
                    <a:solidFill>
                      <a:srgbClr val="FFFFFF"/>
                    </a:solidFill>
                  </a:tcPr>
                </a:tc>
                <a:tc>
                  <a:txBody>
                    <a:bodyPr/>
                    <a:lstStyle/>
                    <a:p>
                      <a:pPr algn="r">
                        <a:spcAft>
                          <a:spcPts val="0"/>
                        </a:spcAft>
                      </a:pPr>
                      <a:r>
                        <a:rPr sz="1400" b="0" i="0">
                          <a:solidFill>
                            <a:srgbClr val="262626"/>
                          </a:solidFill>
                          <a:latin typeface="Candara"/>
                        </a:rPr>
                        <a:t>73.19</a:t>
                      </a:r>
                    </a:p>
                  </a:txBody>
                  <a:tcPr marL="91440" marR="91440" marT="36576" marB="36576" anchor="ctr">
                    <a:solidFill>
                      <a:srgbClr val="FFFFFF"/>
                    </a:solidFill>
                  </a:tcPr>
                </a:tc>
              </a:tr>
              <a:tr h="411480">
                <a:tc>
                  <a:txBody>
                    <a:bodyPr/>
                    <a:lstStyle/>
                    <a:p>
                      <a:pPr algn="l">
                        <a:spcAft>
                          <a:spcPts val="0"/>
                        </a:spcAft>
                      </a:pPr>
                      <a:r>
                        <a:rPr sz="1400" b="1" i="0">
                          <a:solidFill>
                            <a:srgbClr val="262626"/>
                          </a:solidFill>
                          <a:latin typeface="Candara"/>
                        </a:rPr>
                        <a:t>LoRA, loss on all tokens</a:t>
                      </a:r>
                    </a:p>
                  </a:txBody>
                  <a:tcPr marL="91440" marR="91440" marT="36576" marB="36576" anchor="ctr">
                    <a:solidFill>
                      <a:srgbClr val="F3F3F3"/>
                    </a:solidFill>
                  </a:tcPr>
                </a:tc>
                <a:tc>
                  <a:txBody>
                    <a:bodyPr/>
                    <a:lstStyle/>
                    <a:p>
                      <a:pPr algn="r">
                        <a:spcAft>
                          <a:spcPts val="0"/>
                        </a:spcAft>
                      </a:pPr>
                      <a:r>
                        <a:rPr sz="1400" b="0" i="0">
                          <a:solidFill>
                            <a:srgbClr val="262626"/>
                          </a:solidFill>
                          <a:latin typeface="Candara"/>
                        </a:rPr>
                        <a:t>28.13</a:t>
                      </a:r>
                    </a:p>
                  </a:txBody>
                  <a:tcPr marL="91440" marR="91440" marT="36576" marB="36576" anchor="ctr">
                    <a:solidFill>
                      <a:srgbClr val="F3F3F3"/>
                    </a:solidFill>
                  </a:tcPr>
                </a:tc>
                <a:tc>
                  <a:txBody>
                    <a:bodyPr/>
                    <a:lstStyle/>
                    <a:p>
                      <a:pPr algn="r">
                        <a:spcAft>
                          <a:spcPts val="0"/>
                        </a:spcAft>
                      </a:pPr>
                      <a:r>
                        <a:rPr sz="1400" b="0" i="0">
                          <a:solidFill>
                            <a:srgbClr val="262626"/>
                          </a:solidFill>
                          <a:latin typeface="Candara"/>
                        </a:rPr>
                        <a:t>30.00</a:t>
                      </a:r>
                    </a:p>
                  </a:txBody>
                  <a:tcPr marL="91440" marR="91440" marT="36576" marB="36576" anchor="ctr">
                    <a:solidFill>
                      <a:srgbClr val="F3F3F3"/>
                    </a:solidFill>
                  </a:tcPr>
                </a:tc>
                <a:tc>
                  <a:txBody>
                    <a:bodyPr/>
                    <a:lstStyle/>
                    <a:p>
                      <a:pPr algn="r">
                        <a:spcAft>
                          <a:spcPts val="0"/>
                        </a:spcAft>
                      </a:pPr>
                      <a:r>
                        <a:rPr sz="1400" b="0" i="0">
                          <a:solidFill>
                            <a:srgbClr val="262626"/>
                          </a:solidFill>
                          <a:latin typeface="Candara"/>
                        </a:rPr>
                        <a:t>78.44</a:t>
                      </a:r>
                    </a:p>
                  </a:txBody>
                  <a:tcPr marL="91440" marR="91440" marT="36576" marB="36576" anchor="ctr">
                    <a:solidFill>
                      <a:srgbClr val="F3F3F3"/>
                    </a:solidFill>
                  </a:tcPr>
                </a:tc>
              </a:tr>
              <a:tr h="411480">
                <a:tc>
                  <a:txBody>
                    <a:bodyPr/>
                    <a:lstStyle/>
                    <a:p>
                      <a:pPr algn="l">
                        <a:spcAft>
                          <a:spcPts val="0"/>
                        </a:spcAft>
                      </a:pPr>
                      <a:r>
                        <a:rPr sz="1400" b="1" i="0">
                          <a:solidFill>
                            <a:srgbClr val="262626"/>
                          </a:solidFill>
                          <a:latin typeface="Candara"/>
                        </a:rPr>
                        <a:t>LoRA, loss on answers only</a:t>
                      </a:r>
                    </a:p>
                  </a:txBody>
                  <a:tcPr marL="91440" marR="91440" marT="36576" marB="36576" anchor="ctr">
                    <a:solidFill>
                      <a:srgbClr val="FFFFFF"/>
                    </a:solidFill>
                  </a:tcPr>
                </a:tc>
                <a:tc>
                  <a:txBody>
                    <a:bodyPr/>
                    <a:lstStyle/>
                    <a:p>
                      <a:pPr algn="r">
                        <a:spcAft>
                          <a:spcPts val="0"/>
                        </a:spcAft>
                      </a:pPr>
                      <a:r>
                        <a:rPr sz="1400" b="0" i="0">
                          <a:solidFill>
                            <a:srgbClr val="262626"/>
                          </a:solidFill>
                          <a:latin typeface="Candara"/>
                        </a:rPr>
                        <a:t>51.39</a:t>
                      </a:r>
                    </a:p>
                  </a:txBody>
                  <a:tcPr marL="91440" marR="91440" marT="36576" marB="36576" anchor="ctr">
                    <a:solidFill>
                      <a:srgbClr val="FFFFFF"/>
                    </a:solidFill>
                  </a:tcPr>
                </a:tc>
                <a:tc>
                  <a:txBody>
                    <a:bodyPr/>
                    <a:lstStyle/>
                    <a:p>
                      <a:pPr algn="r">
                        <a:spcAft>
                          <a:spcPts val="0"/>
                        </a:spcAft>
                      </a:pPr>
                      <a:r>
                        <a:rPr sz="1400" b="0" i="0">
                          <a:solidFill>
                            <a:srgbClr val="262626"/>
                          </a:solidFill>
                          <a:latin typeface="Candara"/>
                        </a:rPr>
                        <a:t>29.09</a:t>
                      </a:r>
                    </a:p>
                  </a:txBody>
                  <a:tcPr marL="91440" marR="91440" marT="36576" marB="36576" anchor="ctr">
                    <a:solidFill>
                      <a:srgbClr val="FFFFFF"/>
                    </a:solidFill>
                  </a:tcPr>
                </a:tc>
                <a:tc>
                  <a:txBody>
                    <a:bodyPr/>
                    <a:lstStyle/>
                    <a:p>
                      <a:pPr algn="r">
                        <a:spcAft>
                          <a:spcPts val="0"/>
                        </a:spcAft>
                      </a:pPr>
                      <a:r>
                        <a:rPr sz="1400" b="0" i="0">
                          <a:solidFill>
                            <a:srgbClr val="262626"/>
                          </a:solidFill>
                          <a:latin typeface="Candara"/>
                        </a:rPr>
                        <a:t>77.24</a:t>
                      </a:r>
                    </a:p>
                  </a:txBody>
                  <a:tcPr marL="91440" marR="91440" marT="36576" marB="36576" anchor="ctr">
                    <a:solidFill>
                      <a:srgbClr val="FFFFFF"/>
                    </a:solidFill>
                  </a:tcPr>
                </a:tc>
              </a:tr>
            </a:tbl>
          </a:graphicData>
        </a:graphic>
      </p:graphicFrame>
      <p:sp>
        <p:nvSpPr>
          <p:cNvPr id="5" name="Rounded Rectangle 4"/>
          <p:cNvSpPr/>
          <p:nvPr/>
        </p:nvSpPr>
        <p:spPr>
          <a:xfrm>
            <a:off x="1060704" y="3337560"/>
            <a:ext cx="3227832" cy="141732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0934" bIns="160934"/>
          <a:lstStyle/>
          <a:p>
            <a:pPr algn="l">
              <a:spcAft>
                <a:spcPts val="200"/>
              </a:spcAft>
            </a:pPr>
            <a:r>
              <a:rPr sz="3000" b="1" i="0">
                <a:solidFill>
                  <a:srgbClr val="AB3D3F"/>
                </a:solidFill>
                <a:latin typeface="Candara"/>
              </a:rPr>
              <a:t>20.6%</a:t>
            </a:r>
          </a:p>
          <a:p>
            <a:pPr algn="l">
              <a:spcAft>
                <a:spcPts val="600"/>
              </a:spcAft>
            </a:pPr>
            <a:r>
              <a:rPr sz="1300" b="0" i="0">
                <a:solidFill>
                  <a:srgbClr val="262626"/>
                </a:solidFill>
                <a:latin typeface="Candara"/>
              </a:rPr>
              <a:t>lower answer perplexity: the cleanest sign of domain knowledge</a:t>
            </a:r>
          </a:p>
        </p:txBody>
      </p:sp>
      <p:sp>
        <p:nvSpPr>
          <p:cNvPr id="6" name="Rounded Rectangle 5"/>
          <p:cNvSpPr/>
          <p:nvPr/>
        </p:nvSpPr>
        <p:spPr>
          <a:xfrm>
            <a:off x="4471416" y="3337560"/>
            <a:ext cx="3227832" cy="141732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0934" bIns="160934"/>
          <a:lstStyle/>
          <a:p>
            <a:pPr algn="l">
              <a:spcAft>
                <a:spcPts val="200"/>
              </a:spcAft>
            </a:pPr>
            <a:r>
              <a:rPr sz="3000" b="1" i="0">
                <a:solidFill>
                  <a:srgbClr val="AB3D3F"/>
                </a:solidFill>
                <a:latin typeface="Candara"/>
              </a:rPr>
              <a:t>7.2%</a:t>
            </a:r>
          </a:p>
          <a:p>
            <a:pPr algn="l">
              <a:spcAft>
                <a:spcPts val="600"/>
              </a:spcAft>
            </a:pPr>
            <a:r>
              <a:rPr sz="1300" b="0" i="0">
                <a:solidFill>
                  <a:srgbClr val="262626"/>
                </a:solidFill>
                <a:latin typeface="Candara"/>
              </a:rPr>
              <a:t>higher general-English perplexity: LoRA limits forgetting, it does not prevent it</a:t>
            </a:r>
          </a:p>
        </p:txBody>
      </p:sp>
      <p:sp>
        <p:nvSpPr>
          <p:cNvPr id="7" name="Rounded Rectangle 6"/>
          <p:cNvSpPr/>
          <p:nvPr/>
        </p:nvSpPr>
        <p:spPr>
          <a:xfrm>
            <a:off x="7882127" y="3337560"/>
            <a:ext cx="3227832" cy="141732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0934" bIns="160934"/>
          <a:lstStyle/>
          <a:p>
            <a:pPr algn="l">
              <a:spcAft>
                <a:spcPts val="200"/>
              </a:spcAft>
            </a:pPr>
            <a:r>
              <a:rPr sz="3000" b="1" i="0">
                <a:solidFill>
                  <a:srgbClr val="AB3D3F"/>
                </a:solidFill>
                <a:latin typeface="Candara"/>
              </a:rPr>
              <a:t>49.8%</a:t>
            </a:r>
          </a:p>
          <a:p>
            <a:pPr algn="l">
              <a:spcAft>
                <a:spcPts val="600"/>
              </a:spcAft>
            </a:pPr>
            <a:r>
              <a:rPr sz="1300" b="0" i="0">
                <a:solidFill>
                  <a:srgbClr val="262626"/>
                </a:solidFill>
                <a:latin typeface="Candara"/>
              </a:rPr>
              <a:t>lower full-text perplexity, partly from learning the question format</a:t>
            </a:r>
          </a:p>
        </p:txBody>
      </p:sp>
      <p:sp>
        <p:nvSpPr>
          <p:cNvPr id="8" name="TextBox 7"/>
          <p:cNvSpPr txBox="1"/>
          <p:nvPr/>
        </p:nvSpPr>
        <p:spPr>
          <a:xfrm>
            <a:off x="1060704" y="4937760"/>
            <a:ext cx="10067544" cy="731520"/>
          </a:xfrm>
          <a:prstGeom prst="rect">
            <a:avLst/>
          </a:prstGeom>
          <a:noFill/>
        </p:spPr>
        <p:txBody>
          <a:bodyPr wrap="square" anchor="t" lIns="0" rIns="0" tIns="0" bIns="0">
            <a:spAutoFit/>
          </a:bodyPr>
          <a:lstStyle/>
          <a:p>
            <a:pPr algn="l">
              <a:spcAft>
                <a:spcPts val="600"/>
              </a:spcAft>
            </a:pPr>
            <a:r>
              <a:rPr sz="1400" b="1" i="0">
                <a:solidFill>
                  <a:srgbClr val="AB3D3F"/>
                </a:solidFill>
                <a:latin typeface="Candara"/>
              </a:rPr>
              <a:t>Standard vs masked: </a:t>
            </a:r>
            <a:r>
              <a:rPr sz="1400" b="0" i="0">
                <a:solidFill>
                  <a:srgbClr val="262626"/>
                </a:solidFill>
                <a:latin typeface="Candara"/>
              </a:rPr>
              <a:t>on answers they are within noise (30.00 vs 29.09, one seed). Only the standard adapter learns to predict questions, and speech transcripts contain the questions.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571500" y="571500"/>
            <a:ext cx="11055096" cy="737700"/>
          </a:xfrm>
        </p:spPr>
        <p:txBody>
          <a:bodyPr/>
          <a:lstStyle/>
          <a:p>
            <a:r>
              <a:t>Fluent is not the same as correct</a:t>
            </a:r>
          </a:p>
        </p:txBody>
      </p:sp>
      <p:sp>
        <p:nvSpPr>
          <p:cNvPr id="3" name="Rounded Rectangle 2"/>
          <p:cNvSpPr/>
          <p:nvPr/>
        </p:nvSpPr>
        <p:spPr>
          <a:xfrm>
            <a:off x="566928" y="1417320"/>
            <a:ext cx="5943600" cy="425196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l">
              <a:spcAft>
                <a:spcPts val="1200"/>
              </a:spcAft>
            </a:pPr>
            <a:r>
              <a:rPr sz="1800" b="1" i="0">
                <a:solidFill>
                  <a:srgbClr val="262626"/>
                </a:solidFill>
                <a:latin typeface="Candara"/>
              </a:rPr>
              <a:t>How can farmers control fall armyworm in maize?</a:t>
            </a:r>
          </a:p>
          <a:p>
            <a:pPr algn="l">
              <a:spcAft>
                <a:spcPts val="200"/>
              </a:spcAft>
            </a:pPr>
            <a:r>
              <a:rPr sz="1700" b="1" i="0">
                <a:solidFill>
                  <a:srgbClr val="AB3D3F"/>
                </a:solidFill>
                <a:latin typeface="Candara"/>
              </a:rPr>
              <a:t>LoRA, all tokens</a:t>
            </a:r>
          </a:p>
          <a:p>
            <a:pPr algn="l">
              <a:spcAft>
                <a:spcPts val="1200"/>
              </a:spcAft>
            </a:pPr>
            <a:r>
              <a:rPr sz="1700" b="0" i="0">
                <a:solidFill>
                  <a:srgbClr val="262626"/>
                </a:solidFill>
                <a:latin typeface="Candara"/>
              </a:rPr>
              <a:t>“The fall armyworm in maize affects the development of mites, insects and other insects.”</a:t>
            </a:r>
          </a:p>
          <a:p>
            <a:pPr algn="l">
              <a:spcAft>
                <a:spcPts val="200"/>
              </a:spcAft>
            </a:pPr>
            <a:r>
              <a:rPr sz="1700" b="1" i="0">
                <a:solidFill>
                  <a:srgbClr val="AB3D3F"/>
                </a:solidFill>
                <a:latin typeface="Candara"/>
              </a:rPr>
              <a:t>LoRA, answers only</a:t>
            </a:r>
          </a:p>
          <a:p>
            <a:pPr algn="l">
              <a:spcAft>
                <a:spcPts val="1200"/>
              </a:spcAft>
            </a:pPr>
            <a:r>
              <a:rPr sz="1700" b="0" i="0">
                <a:solidFill>
                  <a:srgbClr val="262626"/>
                </a:solidFill>
                <a:latin typeface="Candara"/>
              </a:rPr>
              <a:t>“The fall armyworm in maize can occur through a variety of diseases, such as arachnoid, cloverworm, and coca.”</a:t>
            </a:r>
          </a:p>
          <a:p>
            <a:pPr algn="l">
              <a:spcAft>
                <a:spcPts val="600"/>
              </a:spcAft>
            </a:pPr>
            <a:r>
              <a:rPr sz="1300" b="0" i="0">
                <a:solidFill>
                  <a:srgbClr val="595959"/>
                </a:solidFill>
                <a:latin typeface="Candara"/>
              </a:rPr>
              <a:t>Seed 42, temperature 0.7. Both sound like an extension officer; neither is right.</a:t>
            </a:r>
          </a:p>
        </p:txBody>
      </p:sp>
      <p:sp>
        <p:nvSpPr>
          <p:cNvPr id="4" name="Rounded Rectangle 3"/>
          <p:cNvSpPr/>
          <p:nvPr/>
        </p:nvSpPr>
        <p:spPr>
          <a:xfrm>
            <a:off x="6784848" y="1417320"/>
            <a:ext cx="4837176" cy="425196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l">
              <a:spcAft>
                <a:spcPts val="1000"/>
              </a:spcAft>
            </a:pPr>
            <a:r>
              <a:rPr sz="1800" b="1" i="0">
                <a:solidFill>
                  <a:srgbClr val="AB3D3F"/>
                </a:solidFill>
                <a:latin typeface="Candara"/>
              </a:rPr>
              <a:t>Decoding changes repetition, not truth</a:t>
            </a:r>
          </a:p>
          <a:p>
            <a:pPr algn="l" marL="219456" indent="-219456">
              <a:spcAft>
                <a:spcPts val="800"/>
              </a:spcAft>
              <a:buClr>
                <a:srgbClr val="AB3D3F"/>
              </a:buClr>
              <a:buFont typeface="Arial"/>
              <a:buChar char="•"/>
            </a:pPr>
            <a:r>
              <a:rPr sz="1600" b="0" i="0">
                <a:solidFill>
                  <a:srgbClr val="262626"/>
                </a:solidFill>
                <a:latin typeface="Candara"/>
              </a:rPr>
              <a:t>Distinct trigrams per answer: 78.9% with plain sampling, 100.0% with a repetition penalty, 99.5% with 3-gram blocking.</a:t>
            </a:r>
          </a:p>
          <a:p>
            <a:pPr algn="l" marL="219456" indent="-219456">
              <a:spcAft>
                <a:spcPts val="800"/>
              </a:spcAft>
              <a:buClr>
                <a:srgbClr val="AB3D3F"/>
              </a:buClr>
              <a:buFont typeface="Arial"/>
              <a:buChar char="•"/>
            </a:pPr>
            <a:r>
              <a:rPr sz="1600" b="0" i="0">
                <a:solidFill>
                  <a:srgbClr val="262626"/>
                </a:solidFill>
                <a:latin typeface="Candara"/>
              </a:rPr>
              <a:t>Blocking guarantees that number by construction; it says nothing about content.</a:t>
            </a:r>
          </a:p>
          <a:p>
            <a:pPr algn="l" marL="219456" indent="-219456">
              <a:spcAft>
                <a:spcPts val="800"/>
              </a:spcAft>
              <a:buClr>
                <a:srgbClr val="AB3D3F"/>
              </a:buClr>
              <a:buFont typeface="Arial"/>
              <a:buChar char="•"/>
            </a:pPr>
            <a:r>
              <a:rPr sz="1600" b="0" i="0">
                <a:solidFill>
                  <a:srgbClr val="262626"/>
                </a:solidFill>
                <a:latin typeface="Candara"/>
              </a:rPr>
              <a:t>At best one of our nine seeded answers is roughly right.</a:t>
            </a:r>
          </a:p>
          <a:p>
            <a:pPr algn="l" marL="219456" indent="-219456">
              <a:spcAft>
                <a:spcPts val="600"/>
              </a:spcAft>
              <a:buClr>
                <a:srgbClr val="AB3D3F"/>
              </a:buClr>
              <a:buFont typeface="Arial"/>
              <a:buChar char="•"/>
            </a:pPr>
            <a:r>
              <a:rPr sz="1600" b="1" i="0">
                <a:solidFill>
                  <a:srgbClr val="262626"/>
                </a:solidFill>
                <a:latin typeface="Candara"/>
              </a:rPr>
              <a:t>Use: </a:t>
            </a:r>
            <a:r>
              <a:rPr sz="1600" b="0" i="0">
                <a:solidFill>
                  <a:srgbClr val="262626"/>
                </a:solidFill>
                <a:latin typeface="Candara"/>
              </a:rPr>
              <a:t>scoring transcripts in the domain. Never advice to farmers.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571500" y="571500"/>
            <a:ext cx="11055096" cy="737700"/>
          </a:xfrm>
        </p:spPr>
        <p:txBody>
          <a:bodyPr/>
          <a:lstStyle/>
          <a:p>
            <a:r>
              <a:rPr sz="3000"/>
              <a:t>What we got wrong, and what it taught us</a:t>
            </a:r>
          </a:p>
        </p:txBody>
      </p:sp>
      <p:sp>
        <p:nvSpPr>
          <p:cNvPr id="3" name="Rounded Rectangle 2"/>
          <p:cNvSpPr/>
          <p:nvPr/>
        </p:nvSpPr>
        <p:spPr>
          <a:xfrm>
            <a:off x="566928" y="1417320"/>
            <a:ext cx="5394960" cy="425196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l">
              <a:spcAft>
                <a:spcPts val="1000"/>
              </a:spcAft>
            </a:pPr>
            <a:r>
              <a:rPr sz="1800" b="1" i="0">
                <a:solidFill>
                  <a:srgbClr val="AB3D3F"/>
                </a:solidFill>
                <a:latin typeface="Candara"/>
              </a:rPr>
              <a:t>Caught before submission</a:t>
            </a:r>
          </a:p>
          <a:p>
            <a:pPr algn="l" marL="219456" indent="-219456">
              <a:spcAft>
                <a:spcPts val="800"/>
              </a:spcAft>
              <a:buClr>
                <a:srgbClr val="AB3D3F"/>
              </a:buClr>
              <a:buFont typeface="Arial"/>
              <a:buChar char="•"/>
            </a:pPr>
            <a:r>
              <a:rPr sz="1600" b="0" i="0">
                <a:solidFill>
                  <a:srgbClr val="262626"/>
                </a:solidFill>
                <a:latin typeface="Candara"/>
              </a:rPr>
              <a:t>Our first draft reported a breaking point after N = 4. It was three smoothing bugs; a test that probabilities sum to 1 now guards against them.</a:t>
            </a:r>
          </a:p>
          <a:p>
            <a:pPr algn="l" marL="219456" indent="-219456">
              <a:spcAft>
                <a:spcPts val="800"/>
              </a:spcAft>
              <a:buClr>
                <a:srgbClr val="AB3D3F"/>
              </a:buClr>
              <a:buFont typeface="Arial"/>
              <a:buChar char="•"/>
            </a:pPr>
            <a:r>
              <a:rPr sz="1600" b="0" i="0">
                <a:solidFill>
                  <a:srgbClr val="262626"/>
                </a:solidFill>
                <a:latin typeface="Candara"/>
              </a:rPr>
              <a:t>We first ranked tokenizers per token, then per word without charging unknown words. Both rankings were wrong.</a:t>
            </a:r>
          </a:p>
          <a:p>
            <a:pPr algn="l" marL="219456" indent="-219456">
              <a:spcAft>
                <a:spcPts val="800"/>
              </a:spcAft>
              <a:buClr>
                <a:srgbClr val="AB3D3F"/>
              </a:buClr>
              <a:buFont typeface="Arial"/>
              <a:buChar char="•"/>
            </a:pPr>
            <a:r>
              <a:rPr sz="1600" b="0" i="0">
                <a:solidFill>
                  <a:srgbClr val="262626"/>
                </a:solidFill>
                <a:latin typeface="Candara"/>
              </a:rPr>
              <a:t>16 of 100 test pairs in our first Section C split were copies of training pairs. We now deduplicate before splitting.</a:t>
            </a:r>
          </a:p>
          <a:p>
            <a:pPr algn="l" marL="219456" indent="-219456">
              <a:spcAft>
                <a:spcPts val="600"/>
              </a:spcAft>
              <a:buClr>
                <a:srgbClr val="AB3D3F"/>
              </a:buClr>
              <a:buFont typeface="Arial"/>
              <a:buChar char="•"/>
            </a:pPr>
            <a:r>
              <a:rPr sz="1600" b="0" i="0">
                <a:solidFill>
                  <a:srgbClr val="262626"/>
                </a:solidFill>
                <a:latin typeface="Candara"/>
              </a:rPr>
              <a:t>Every number on these slides is read from a result file written by a committed script.</a:t>
            </a:r>
          </a:p>
        </p:txBody>
      </p:sp>
      <p:sp>
        <p:nvSpPr>
          <p:cNvPr id="4" name="Rounded Rectangle 3"/>
          <p:cNvSpPr/>
          <p:nvPr/>
        </p:nvSpPr>
        <p:spPr>
          <a:xfrm>
            <a:off x="6227064" y="1417320"/>
            <a:ext cx="5394960" cy="425196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l">
              <a:spcAft>
                <a:spcPts val="1000"/>
              </a:spcAft>
            </a:pPr>
            <a:r>
              <a:rPr sz="1800" b="1" i="0">
                <a:solidFill>
                  <a:srgbClr val="AB3D3F"/>
                </a:solidFill>
                <a:latin typeface="Candara"/>
              </a:rPr>
              <a:t>Takeaways</a:t>
            </a:r>
          </a:p>
          <a:p>
            <a:pPr algn="l" marL="219456" indent="-219456">
              <a:spcAft>
                <a:spcPts val="800"/>
              </a:spcAft>
              <a:buClr>
                <a:srgbClr val="AB3D3F"/>
              </a:buClr>
              <a:buFont typeface="Arial"/>
              <a:buChar char="•"/>
            </a:pPr>
            <a:r>
              <a:rPr sz="1600" b="1" i="0">
                <a:solidFill>
                  <a:srgbClr val="262626"/>
                </a:solidFill>
                <a:latin typeface="Candara"/>
              </a:rPr>
              <a:t>Smoothing decides it. </a:t>
            </a:r>
            <a:r>
              <a:rPr sz="1600" b="0" i="0">
                <a:solidFill>
                  <a:srgbClr val="262626"/>
                </a:solidFill>
                <a:latin typeface="Candara"/>
              </a:rPr>
              <a:t>With Kneser-Ney, Ewe n-grams improve up to about four words of context, then plateau.</a:t>
            </a:r>
          </a:p>
          <a:p>
            <a:pPr algn="l" marL="219456" indent="-219456">
              <a:spcAft>
                <a:spcPts val="800"/>
              </a:spcAft>
              <a:buClr>
                <a:srgbClr val="AB3D3F"/>
              </a:buClr>
              <a:buFont typeface="Arial"/>
              <a:buChar char="•"/>
            </a:pPr>
            <a:r>
              <a:rPr sz="1600" b="1" i="0">
                <a:solidFill>
                  <a:srgbClr val="262626"/>
                </a:solidFill>
                <a:latin typeface="Candara"/>
              </a:rPr>
              <a:t>Subwords model Ewe best </a:t>
            </a:r>
            <a:r>
              <a:rPr sz="1600" b="0" i="0">
                <a:solidFill>
                  <a:srgbClr val="262626"/>
                </a:solidFill>
                <a:latin typeface="Candara"/>
              </a:rPr>
              <a:t>when tokenizers are compared per word.</a:t>
            </a:r>
          </a:p>
          <a:p>
            <a:pPr algn="l" marL="219456" indent="-219456">
              <a:spcAft>
                <a:spcPts val="800"/>
              </a:spcAft>
              <a:buClr>
                <a:srgbClr val="AB3D3F"/>
              </a:buClr>
              <a:buFont typeface="Arial"/>
              <a:buChar char="•"/>
            </a:pPr>
            <a:r>
              <a:rPr sz="1600" b="1" i="0">
                <a:solidFill>
                  <a:srgbClr val="262626"/>
                </a:solidFill>
                <a:latin typeface="Candara"/>
              </a:rPr>
              <a:t>N-gram or neural depends on data. </a:t>
            </a:r>
            <a:r>
              <a:rPr sz="1600" b="0" i="0">
                <a:solidFill>
                  <a:srgbClr val="262626"/>
                </a:solidFill>
                <a:latin typeface="Candara"/>
              </a:rPr>
              <a:t>The n-gram wins on 420 sentences; the LSTM wins on 98,808.</a:t>
            </a:r>
          </a:p>
          <a:p>
            <a:pPr algn="l" marL="219456" indent="-219456">
              <a:spcAft>
                <a:spcPts val="600"/>
              </a:spcAft>
              <a:buClr>
                <a:srgbClr val="AB3D3F"/>
              </a:buClr>
              <a:buFont typeface="Arial"/>
              <a:buChar char="•"/>
            </a:pPr>
            <a:r>
              <a:rPr sz="1600" b="1" i="0">
                <a:solidFill>
                  <a:srgbClr val="262626"/>
                </a:solidFill>
                <a:latin typeface="Candara"/>
              </a:rPr>
              <a:t>LoRA adapts cheaply </a:t>
            </a:r>
            <a:r>
              <a:rPr sz="1600" b="0" i="0">
                <a:solidFill>
                  <a:srgbClr val="262626"/>
                </a:solidFill>
                <a:latin typeface="Candara"/>
              </a:rPr>
              <a:t>but makes the model fluent, not reliable.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6000"/>
              <a:t>Thank you. Questions?</a:t>
            </a:r>
          </a:p>
        </p:txBody>
      </p:sp>
      <p:sp>
        <p:nvSpPr>
          <p:cNvPr id="3" name="TextBox 2"/>
          <p:cNvSpPr txBox="1"/>
          <p:nvPr/>
        </p:nvSpPr>
        <p:spPr>
          <a:xfrm>
            <a:off x="1527048" y="5074920"/>
            <a:ext cx="9144000" cy="457200"/>
          </a:xfrm>
          <a:prstGeom prst="rect">
            <a:avLst/>
          </a:prstGeom>
          <a:noFill/>
        </p:spPr>
        <p:txBody>
          <a:bodyPr wrap="square" anchor="t" lIns="0" rIns="0" tIns="0" bIns="0">
            <a:spAutoFit/>
          </a:bodyPr>
          <a:lstStyle/>
          <a:p>
            <a:pPr algn="ctr">
              <a:spcAft>
                <a:spcPts val="600"/>
              </a:spcAft>
            </a:pPr>
            <a:r>
              <a:rPr sz="1600" b="0" i="0">
                <a:solidFill>
                  <a:srgbClr val="FEBA5A"/>
                </a:solidFill>
                <a:latin typeface="Candara"/>
              </a:rPr>
              <a:t>ICS554 Natural Language Processing · Group 1 · github.com/ASU-MICS-2028/nlp-group-1-prosit-1</a:t>
            </a:r>
          </a:p>
        </p:txBody>
      </p:sp>
      <p:sp>
        <p:nvSpPr>
          <p:cNvPr id="4" name="TextBox 3"/>
          <p:cNvSpPr txBox="1"/>
          <p:nvPr/>
        </p:nvSpPr>
        <p:spPr>
          <a:xfrm>
            <a:off x="1069848" y="5669280"/>
            <a:ext cx="10058400" cy="640080"/>
          </a:xfrm>
          <a:prstGeom prst="rect">
            <a:avLst/>
          </a:prstGeom>
          <a:noFill/>
        </p:spPr>
        <p:txBody>
          <a:bodyPr wrap="square" anchor="t" lIns="0" rIns="0" tIns="0" bIns="0">
            <a:spAutoFit/>
          </a:bodyPr>
          <a:lstStyle/>
          <a:p>
            <a:pPr algn="ctr">
              <a:spcAft>
                <a:spcPts val="600"/>
              </a:spcAft>
            </a:pPr>
            <a:r>
              <a:rPr sz="1200" b="1" i="0">
                <a:solidFill>
                  <a:srgbClr val="FEBA5A"/>
                </a:solidFill>
                <a:latin typeface="Candara"/>
              </a:rPr>
              <a:t>AI declaration: </a:t>
            </a:r>
            <a:r>
              <a:rPr sz="1200" b="0" i="0">
                <a:solidFill>
                  <a:srgbClr val="FFFFFF"/>
                </a:solidFill>
                <a:latin typeface="Candara"/>
              </a:rPr>
              <a:t>we used AI tools to help write code, check results and draft text, and to generate this presentation from our result files. How AI was used is logged in the project's WORKLOG.md.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37e7508-98d8-4d44-adcb-ef8e87c43aeb">
      <Terms xmlns="http://schemas.microsoft.com/office/infopath/2007/PartnerControls"/>
    </lcf76f155ced4ddcb4097134ff3c332f>
    <TaxCatchAll xmlns="029b47ac-dfc3-4a78-a146-9328422ffc2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4A2D7E0F094D9459F0D8AD544C81A1D" ma:contentTypeVersion="17" ma:contentTypeDescription="Create a new document." ma:contentTypeScope="" ma:versionID="acf9e738a288c12215d25aaf286ed4a9">
  <xsd:schema xmlns:xsd="http://www.w3.org/2001/XMLSchema" xmlns:xs="http://www.w3.org/2001/XMLSchema" xmlns:p="http://schemas.microsoft.com/office/2006/metadata/properties" xmlns:ns2="b37e7508-98d8-4d44-adcb-ef8e87c43aeb" xmlns:ns3="029b47ac-dfc3-4a78-a146-9328422ffc22" targetNamespace="http://schemas.microsoft.com/office/2006/metadata/properties" ma:root="true" ma:fieldsID="12a109ebfb79587208d377fc8ce12113" ns2:_="" ns3:_="">
    <xsd:import namespace="b37e7508-98d8-4d44-adcb-ef8e87c43aeb"/>
    <xsd:import namespace="029b47ac-dfc3-4a78-a146-9328422ffc2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ObjectDetectorVersions" minOccurs="0"/>
                <xsd:element ref="ns2:MediaServiceSearchPropertie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7e7508-98d8-4d44-adcb-ef8e87c43ae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c1baf4cd-5b54-4e76-b1d9-f5b4c55054d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29b47ac-dfc3-4a78-a146-9328422ffc22"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a5881349-7c36-4740-adab-dba0362a694f}" ma:internalName="TaxCatchAll" ma:showField="CatchAllData" ma:web="029b47ac-dfc3-4a78-a146-9328422ffc2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CB51B8-E36A-48C6-A6A6-3F83B4595FB1}">
  <ds:schemaRefs>
    <ds:schemaRef ds:uri="http://schemas.microsoft.com/office/2006/metadata/properties"/>
    <ds:schemaRef ds:uri="http://schemas.microsoft.com/office/infopath/2007/PartnerControls"/>
    <ds:schemaRef ds:uri="b37e7508-98d8-4d44-adcb-ef8e87c43aeb"/>
    <ds:schemaRef ds:uri="029b47ac-dfc3-4a78-a146-9328422ffc22"/>
  </ds:schemaRefs>
</ds:datastoreItem>
</file>

<file path=customXml/itemProps2.xml><?xml version="1.0" encoding="utf-8"?>
<ds:datastoreItem xmlns:ds="http://schemas.openxmlformats.org/officeDocument/2006/customXml" ds:itemID="{62D7E678-0BDD-42C1-AEE2-4DC521AAA8E9}">
  <ds:schemaRefs>
    <ds:schemaRef ds:uri="http://schemas.microsoft.com/sharepoint/v3/contenttype/forms"/>
  </ds:schemaRefs>
</ds:datastoreItem>
</file>

<file path=customXml/itemProps3.xml><?xml version="1.0" encoding="utf-8"?>
<ds:datastoreItem xmlns:ds="http://schemas.openxmlformats.org/officeDocument/2006/customXml" ds:itemID="{DED6489D-29A2-4501-9B15-545B50B629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7e7508-98d8-4d44-adcb-ef8e87c43aeb"/>
    <ds:schemaRef ds:uri="029b47ac-dfc3-4a78-a146-9328422ffc2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1417</TotalTime>
  <Words>26</Words>
  <Application>Microsoft Macintosh PowerPoint</Application>
  <PresentationFormat>Widescreen</PresentationFormat>
  <Paragraphs>13</Paragraphs>
  <Slides>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Candara</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and adapting language models</dc:title>
  <dc:creator>ICS554 Group 1, Ashesi University</dc:creator>
  <cp:lastModifiedBy>Ebenezer Gwumah Buckman</cp:lastModifiedBy>
  <cp:revision>4</cp:revision>
  <dcterms:created xsi:type="dcterms:W3CDTF">2026-01-29T14:22:56Z</dcterms:created>
  <dcterms:modified xsi:type="dcterms:W3CDTF">2026-02-03T17:28:44Z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0x01010064A2D7E0F094D9459F0D8AD544C81A1D</vt:lpwstr>
  </property>
</Properties>
</file>